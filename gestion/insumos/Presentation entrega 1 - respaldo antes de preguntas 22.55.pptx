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81" r:id="rId3"/>
    <p:sldId id="259" r:id="rId4"/>
    <p:sldId id="268" r:id="rId5"/>
    <p:sldId id="269" r:id="rId6"/>
    <p:sldId id="276" r:id="rId7"/>
    <p:sldId id="271" r:id="rId8"/>
    <p:sldId id="272" r:id="rId9"/>
    <p:sldId id="273" r:id="rId10"/>
    <p:sldId id="291" r:id="rId11"/>
    <p:sldId id="287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4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AC0BA-73A0-4B0E-A430-4BC680F3327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747C2-43A0-4D20-B35A-E8764EB9D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0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47C2-43A0-4D20-B35A-E8764EB9D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9800" y="13716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33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y composición de las exportaciones de servicios argentinos</a:t>
            </a:r>
            <a:endParaRPr lang="en-US" sz="33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330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Comparado con Brasil, Chile y Uruguay</a:t>
            </a:r>
            <a:r>
              <a:rPr lang="es-ES" sz="20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· </a:t>
            </a:r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2005–2024</a:t>
            </a:r>
            <a:endParaRPr lang="en-US" sz="19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15257" y="0"/>
            <a:ext cx="2476438" cy="68580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5651500"/>
            <a:ext cx="660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Brenda Firmano · Diego Sebastián Díez de Los Ríos · Timothy Brandel</a:t>
            </a:r>
            <a:b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</a:b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Ciencia de Datos para Economía y Negocios · FCE-UBA · 21 de septiembre de 2026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1C59A-6422-4A98-9679-14585F4DB35C}"/>
              </a:ext>
            </a:extLst>
          </p:cNvPr>
          <p:cNvSpPr/>
          <p:nvPr/>
        </p:nvSpPr>
        <p:spPr>
          <a:xfrm>
            <a:off x="660400" y="1371600"/>
            <a:ext cx="76200" cy="13335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61D57-475D-4997-9CA0-5FAE11423664}"/>
              </a:ext>
            </a:extLst>
          </p:cNvPr>
          <p:cNvSpPr txBox="1"/>
          <p:nvPr/>
        </p:nvSpPr>
        <p:spPr>
          <a:xfrm>
            <a:off x="952500" y="6413500"/>
            <a:ext cx="774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950" dirty="0">
                <a:solidFill>
                  <a:srgbClr val="667580"/>
                </a:solidFill>
                <a:latin typeface="Aptos"/>
              </a:rPr>
              <a:t>Fuente: OCDE-OMC, Balanced Trade in Services (BaTiS), edición BPM6 — diciembre de 2025</a:t>
            </a:r>
            <a:endParaRPr lang="en-US" sz="9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Rotulo entrega"/>
          <p:cNvSpPr/>
          <p:nvPr/>
        </p:nvSpPr>
        <p:spPr>
          <a:xfrm>
            <a:off x="950976" y="987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INSTANCIA 1: ANÁLISIS EXPLORATORIO DE DATOS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6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361950"/>
            <a:ext cx="2133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01 · DATOS Y ESTRUCTURA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638175"/>
            <a:ext cx="105724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¿Qué es BaTiS y qué representa cada observación?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585" y="1642033"/>
            <a:ext cx="5048124" cy="401469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5352" y="1642033"/>
            <a:ext cx="5676758" cy="4014694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046" y="1848944"/>
            <a:ext cx="51433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9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Base de trabajo: 1.040 observaciones</a:t>
            </a:r>
            <a:endParaRPr lang="en-US" sz="19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585" y="5994400"/>
            <a:ext cx="10972526" cy="4826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568" y="1203361"/>
            <a:ext cx="6688243" cy="25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OECD-WTO Balanced Trade in Services (</a:t>
            </a:r>
            <a:r>
              <a:rPr lang="en-US" sz="14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versión</a:t>
            </a: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diciembre de 2025).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CE2A0-C4F4-4BEB-B187-BED2349B6934}"/>
              </a:ext>
            </a:extLst>
          </p:cNvPr>
          <p:cNvSpPr txBox="1"/>
          <p:nvPr/>
        </p:nvSpPr>
        <p:spPr>
          <a:xfrm>
            <a:off x="825500" y="6121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50" b="1">
                <a:solidFill>
                  <a:srgbClr val="FFFFFF"/>
                </a:solidFill>
                <a:latin typeface="Aptos"/>
              </a:rPr>
              <a:t>El recorte selecciona AR, BR, CL y UY; socio WL (mundo); flujo X (exportaciones); total S y categorías SA–SL.</a:t>
            </a:r>
            <a:endParaRPr lang="en-US" sz="11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25EC-0AE3-40FD-818E-19B384EFE6FA}"/>
              </a:ext>
            </a:extLst>
          </p:cNvPr>
          <p:cNvSpPr txBox="1"/>
          <p:nvPr/>
        </p:nvSpPr>
        <p:spPr>
          <a:xfrm>
            <a:off x="952500" y="1778000"/>
            <a:ext cx="438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8445A"/>
                </a:solidFill>
                <a:latin typeface="Aptos"/>
              </a:rPr>
              <a:t>OECD-WTO Balanced Trade in Services (</a:t>
            </a:r>
            <a:r>
              <a:rPr lang="en-US" sz="1600" b="1" dirty="0" err="1">
                <a:solidFill>
                  <a:srgbClr val="28445A"/>
                </a:solidFill>
                <a:latin typeface="Aptos"/>
              </a:rPr>
              <a:t>BaTiS</a:t>
            </a:r>
            <a:r>
              <a:rPr lang="en-US" sz="1600" b="1" dirty="0">
                <a:solidFill>
                  <a:srgbClr val="28445A"/>
                </a:solidFill>
                <a:latin typeface="Aptos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6C72FD-C13F-444A-9209-77A0EA358D49}"/>
              </a:ext>
            </a:extLst>
          </p:cNvPr>
          <p:cNvSpPr txBox="1"/>
          <p:nvPr/>
        </p:nvSpPr>
        <p:spPr>
          <a:xfrm>
            <a:off x="952500" y="2485989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QUÉ 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178626-D60E-4C4B-BF11-B19C5ED79423}"/>
              </a:ext>
            </a:extLst>
          </p:cNvPr>
          <p:cNvSpPr txBox="1"/>
          <p:nvPr/>
        </p:nvSpPr>
        <p:spPr>
          <a:xfrm>
            <a:off x="952500" y="2727289"/>
            <a:ext cx="4381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28445A"/>
                </a:solidFill>
                <a:latin typeface="Aptos"/>
              </a:rPr>
              <a:t>Base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anual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comercio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internacional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servicios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,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edición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BPM6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publicada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diciembre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2025.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2073-2F4E-4AF7-ABF3-4AA68AB7543A}"/>
              </a:ext>
            </a:extLst>
          </p:cNvPr>
          <p:cNvSpPr txBox="1"/>
          <p:nvPr/>
        </p:nvSpPr>
        <p:spPr>
          <a:xfrm>
            <a:off x="952500" y="3330921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FUENTE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5136A-7856-4AFE-AD65-A5E0FA3B5838}"/>
              </a:ext>
            </a:extLst>
          </p:cNvPr>
          <p:cNvSpPr txBox="1"/>
          <p:nvPr/>
        </p:nvSpPr>
        <p:spPr>
          <a:xfrm>
            <a:off x="952500" y="3572221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dirty="0">
                <a:solidFill>
                  <a:srgbClr val="28445A"/>
                </a:solidFill>
                <a:latin typeface="Aptos"/>
              </a:rPr>
              <a:t>Elaborada conjuntamente por la OCDE y la OMC a partir de estadísticas oficiales de balanza de pagos.</a:t>
            </a:r>
            <a:endParaRPr lang="en-US" sz="11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964FC-99DD-45F8-AB89-A2123B957AD8}"/>
              </a:ext>
            </a:extLst>
          </p:cNvPr>
          <p:cNvSpPr txBox="1"/>
          <p:nvPr/>
        </p:nvSpPr>
        <p:spPr>
          <a:xfrm>
            <a:off x="952500" y="4226653"/>
            <a:ext cx="127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2F7D7A"/>
                </a:solidFill>
                <a:latin typeface="Aptos"/>
              </a:rPr>
              <a:t>FENÓMENO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1E98E-0AE0-46A7-8734-103DA744F97C}"/>
              </a:ext>
            </a:extLst>
          </p:cNvPr>
          <p:cNvSpPr txBox="1"/>
          <p:nvPr/>
        </p:nvSpPr>
        <p:spPr>
          <a:xfrm>
            <a:off x="952500" y="4467953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>
                <a:solidFill>
                  <a:srgbClr val="28445A"/>
                </a:solidFill>
                <a:latin typeface="Aptos"/>
              </a:rPr>
              <a:t>Exportaciones de servicios al mundo, desagregadas por categoría de la clasificación EBOPS 2010.</a:t>
            </a:r>
            <a:endParaRPr lang="en-US" sz="110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A8DA98-7B81-40B9-B85D-7508FEF75102}"/>
              </a:ext>
            </a:extLst>
          </p:cNvPr>
          <p:cNvSpPr txBox="1"/>
          <p:nvPr/>
        </p:nvSpPr>
        <p:spPr>
          <a:xfrm>
            <a:off x="952500" y="527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050" b="1" dirty="0">
                <a:solidFill>
                  <a:srgbClr val="667580"/>
                </a:solidFill>
                <a:latin typeface="Aptos"/>
              </a:rPr>
              <a:t>Base completa: 49.604.340 filas · 12 variables · sin duplicados.</a:t>
            </a:r>
            <a:endParaRPr lang="en-US" sz="1050" b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DDB33-E1FD-44C1-B9F2-CBAD55931C47}"/>
              </a:ext>
            </a:extLst>
          </p:cNvPr>
          <p:cNvSpPr txBox="1"/>
          <p:nvPr/>
        </p:nvSpPr>
        <p:spPr>
          <a:xfrm>
            <a:off x="6172200" y="265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Cobertura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D7455-552D-4440-95F3-7468E8889E18}"/>
              </a:ext>
            </a:extLst>
          </p:cNvPr>
          <p:cNvSpPr txBox="1"/>
          <p:nvPr/>
        </p:nvSpPr>
        <p:spPr>
          <a:xfrm>
            <a:off x="8128000" y="264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4 países · 12 categorías de servicio y el total.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CF15D4-0075-443F-A1DC-F8A056FFF727}"/>
              </a:ext>
            </a:extLst>
          </p:cNvPr>
          <p:cNvSpPr txBox="1"/>
          <p:nvPr/>
        </p:nvSpPr>
        <p:spPr>
          <a:xfrm>
            <a:off x="6172200" y="329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2F7D7A"/>
                </a:solidFill>
                <a:latin typeface="Aptos"/>
              </a:rPr>
              <a:t>Unidad</a:t>
            </a:r>
            <a:r>
              <a:rPr lang="en-US" sz="1050" b="1" dirty="0">
                <a:solidFill>
                  <a:srgbClr val="2F7D7A"/>
                </a:solidFill>
                <a:latin typeface="Aptos"/>
              </a:rPr>
              <a:t> de </a:t>
            </a:r>
            <a:r>
              <a:rPr lang="en-US" sz="1050" b="1" dirty="0" err="1">
                <a:solidFill>
                  <a:srgbClr val="2F7D7A"/>
                </a:solidFill>
                <a:latin typeface="Aptos"/>
              </a:rPr>
              <a:t>observación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ECE55-F200-4BAD-889E-6ACE5BD5B2DD}"/>
              </a:ext>
            </a:extLst>
          </p:cNvPr>
          <p:cNvSpPr txBox="1"/>
          <p:nvPr/>
        </p:nvSpPr>
        <p:spPr>
          <a:xfrm>
            <a:off x="8128000" y="327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País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exportador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año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categoría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1AA23-C953-4007-AA73-CA65EE61D733}"/>
              </a:ext>
            </a:extLst>
          </p:cNvPr>
          <p:cNvSpPr txBox="1"/>
          <p:nvPr/>
        </p:nvSpPr>
        <p:spPr>
          <a:xfrm>
            <a:off x="6172200" y="392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Período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06AFD-6DAD-47BB-AFFE-9F76E0862A1E}"/>
              </a:ext>
            </a:extLst>
          </p:cNvPr>
          <p:cNvSpPr txBox="1"/>
          <p:nvPr/>
        </p:nvSpPr>
        <p:spPr>
          <a:xfrm>
            <a:off x="8128000" y="391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2005–2024 · 20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observaciones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anuales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736EA-F575-42A0-A3C2-C1331DDF28D1}"/>
              </a:ext>
            </a:extLst>
          </p:cNvPr>
          <p:cNvSpPr txBox="1"/>
          <p:nvPr/>
        </p:nvSpPr>
        <p:spPr>
          <a:xfrm>
            <a:off x="6172200" y="456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Filtros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CBDC45-A86D-476A-80EF-AFCA405698E5}"/>
              </a:ext>
            </a:extLst>
          </p:cNvPr>
          <p:cNvSpPr txBox="1"/>
          <p:nvPr/>
        </p:nvSpPr>
        <p:spPr>
          <a:xfrm>
            <a:off x="8128000" y="454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Socio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mundo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·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flujo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F4CD8-8941-423B-8BE0-5D97335920DE}"/>
              </a:ext>
            </a:extLst>
          </p:cNvPr>
          <p:cNvSpPr txBox="1"/>
          <p:nvPr/>
        </p:nvSpPr>
        <p:spPr>
          <a:xfrm>
            <a:off x="6172200" y="519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Integridad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18F2D5-EE5F-472F-8DD7-6CC3ED5C7430}"/>
              </a:ext>
            </a:extLst>
          </p:cNvPr>
          <p:cNvSpPr txBox="1"/>
          <p:nvPr/>
        </p:nvSpPr>
        <p:spPr>
          <a:xfrm>
            <a:off x="8128000" y="518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Sin duplicados ni combinaciones faltantes.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5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50490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33" y="419100"/>
            <a:ext cx="225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02 · TEMA Y PREGUNTA GUÍA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66773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Pregunta de investigación y alcance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52" y="1676400"/>
            <a:ext cx="103819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¿Cómo evolucionaron el nivel y la composición de las exportaciones de servicios de Argentina entre 2005 y 2024, comparadas con Brasil, Chile y Uruguay?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9605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605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9150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1. Nivel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9150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¿Cuánto exporta cada país y cómo evolucionó?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9410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9410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895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2. Crecimiento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2895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¿Quién avanzó más desde el mismo punto de partida?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9214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9214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8759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3. Volatilidad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38759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tan frecuente y extrema fue la variación anual?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019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9019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56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4. Composición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4856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servicios ganaron o perdieron peso?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6733" y="5676900"/>
            <a:ext cx="10858229" cy="609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D54F7-EE2F-4CA4-AF7C-A8883D119626}"/>
              </a:ext>
            </a:extLst>
          </p:cNvPr>
          <p:cNvSpPr txBox="1"/>
          <p:nvPr/>
        </p:nvSpPr>
        <p:spPr>
          <a:xfrm>
            <a:off x="1041400" y="5829300"/>
            <a:ext cx="1003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Análisis descriptivo, sin inferir causas, en USD corrientes sin deflactar.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6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3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42329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198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03 · VARIABLES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69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Variables y distribución de los valores exportados</a:t>
            </a:r>
            <a:endParaRPr lang="en-US" sz="2600" b="1" dirty="0">
              <a:solidFill>
                <a:srgbClr val="24313D"/>
              </a:solidFill>
              <a:latin typeface="Apto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74992"/>
              </p:ext>
            </p:extLst>
          </p:nvPr>
        </p:nvGraphicFramePr>
        <p:xfrm>
          <a:off x="546100" y="1422400"/>
          <a:ext cx="4480560" cy="324170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/ grupo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y uso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exportado que informa el país; variable principal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 informado; vacío (NA) si el valor fue estimado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conciliado con los socios; control de calidad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Año, de 2005 a 2024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Reporter, Item_code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País (4) y categoría de servicio (13); agrupan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Partner, 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Socio y flujo; filtros: mundo y exportaciones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Methodology, type_*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del dato y tipos; constantes o trazabilidad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6100" y="4762500"/>
            <a:ext cx="44805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6100" y="4762500"/>
            <a:ext cx="0" cy="15113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000" y="4940300"/>
            <a:ext cx="40325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Qué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muestra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el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gráfico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?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257800"/>
            <a:ext cx="403250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3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Pocos rubros concentran montos muy altos (asimetría a la derecha): la mediana (USD 228 M) describe mejor el valor típico que la media (USD 1.219 M). Los 150 ceros quedan fuera de la escala logarítmica; 80 son de Chile, en categorías que no informa.</a:t>
            </a:r>
            <a:endParaRPr lang="en-US" sz="13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30368" y="1422400"/>
            <a:ext cx="6391656" cy="49403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40680" y="15494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810 valores positivos · escala logarítmica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3" name="Distribución de val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78000"/>
            <a:ext cx="6217920" cy="4261529"/>
          </a:xfrm>
          <a:prstGeom prst="rect">
            <a:avLst/>
          </a:prstGeom>
        </p:spPr>
      </p:pic>
      <p:sp>
        <p:nvSpPr>
          <p:cNvPr id="1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4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06580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829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04 · CALIDAD Y ORIGEN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Origen del dato y criterio de medición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8614" y="1398074"/>
            <a:ext cx="4095648" cy="4224528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30" y="1651000"/>
            <a:ext cx="36384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dato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informado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860" y="1983647"/>
            <a:ext cx="3638459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Argentina: 99,6%
</a:t>
            </a:r>
            <a:r>
              <a:rPr lang="en-US" sz="1400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: 100%
Uruguay: 98,5%
Chile: 62,3%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338" y="3922772"/>
            <a:ext cx="3632200" cy="368300"/>
          </a:xfrm>
          <a:prstGeom prst="rect">
            <a:avLst/>
          </a:prstGeom>
          <a:solidFill>
            <a:srgbClr val="C86F5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Variable principal: Final_value</a:t>
            </a:r>
            <a:endParaRPr lang="en-US" sz="11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07961" y="1398074"/>
            <a:ext cx="6927286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recha balanceado f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06" y="1453896"/>
            <a:ext cx="5985164" cy="411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D92D5B-9E69-4311-B703-D0088E50E0D7}"/>
              </a:ext>
            </a:extLst>
          </p:cNvPr>
          <p:cNvSpPr txBox="1"/>
          <p:nvPr/>
        </p:nvSpPr>
        <p:spPr>
          <a:xfrm>
            <a:off x="571500" y="4460642"/>
            <a:ext cx="3721038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 dirty="0" err="1">
                <a:solidFill>
                  <a:srgbClr val="24313D"/>
                </a:solidFill>
                <a:latin typeface="Aptos"/>
              </a:rPr>
              <a:t>Final_value</a:t>
            </a:r>
            <a:r>
              <a:rPr lang="es-ES" sz="1400" b="1" dirty="0">
                <a:solidFill>
                  <a:srgbClr val="24313D"/>
                </a:solidFill>
                <a:latin typeface="Aptos"/>
              </a:rPr>
              <a:t> </a:t>
            </a:r>
            <a:r>
              <a:rPr lang="es-ES" sz="1400" dirty="0">
                <a:solidFill>
                  <a:srgbClr val="24313D"/>
                </a:solidFill>
                <a:latin typeface="Aptos"/>
              </a:rPr>
              <a:t>es el valor que informa cada país en su balanza de pagos, completado con estimaciones de OCDE-OMC donde falta, sin conciliarlo con lo que declaran sus socios.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1929D-499F-4697-B0E0-3EBAB33C73C9}"/>
              </a:ext>
            </a:extLst>
          </p:cNvPr>
          <p:cNvSpPr txBox="1"/>
          <p:nvPr/>
        </p:nvSpPr>
        <p:spPr>
          <a:xfrm>
            <a:off x="571500" y="2942572"/>
            <a:ext cx="36322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 dirty="0">
                <a:solidFill>
                  <a:srgbClr val="667580"/>
                </a:solidFill>
                <a:latin typeface="Aptos"/>
              </a:rPr>
              <a:t>Porcentaje de las 260 observaciones de cada país informado por una fuente oficial (FMI, fuente nacional u OCDE). En Chile, 4 categorías y los años 2023–2024 son estimados.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60720"/>
            <a:ext cx="11109960" cy="749808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60720"/>
            <a:ext cx="73152" cy="749808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24728"/>
            <a:ext cx="10643616" cy="6217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La brecha no es pareja: Argentina queda siempre por debajo (−2,8% a −18,5%) y Chile llega a +57%. Por eso la elección de la medida cambia resultados (diap. 11).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9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5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88392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97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05 · TAMAÑO Y EVOLUCIÓN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del valor exportado, 2005–2024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295400"/>
            <a:ext cx="3428914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29717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Mediana anual del período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1946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33.156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931" y="2263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 · millones de USD · CV 0,26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931" y="2708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13.411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31" y="3025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CV 0,23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31" y="3470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8.897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2931" y="3787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Chile · CV 0,20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2931" y="4232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4.933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2931" y="4549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Uruguay · CV 0,41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0" y="4917888"/>
            <a:ext cx="31118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Desde 2006, Argentina supera a Chile en nivel exportado. El máximo informado de Chile continúa siendo 2011.</a:t>
            </a:r>
            <a:endParaRPr lang="en-US" sz="12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71846" y="1295400"/>
            <a:ext cx="7583048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9641" y="1473200"/>
            <a:ext cx="3083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Exportaciones de servicios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Evolución nive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422400"/>
            <a:ext cx="7583048" cy="4191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D252A5-5D26-4578-8EED-1CE01F521FA1}"/>
              </a:ext>
            </a:extLst>
          </p:cNvPr>
          <p:cNvSpPr/>
          <p:nvPr/>
        </p:nvSpPr>
        <p:spPr>
          <a:xfrm>
            <a:off x="514350" y="5816599"/>
            <a:ext cx="11240544" cy="698213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DDFC74-9C4D-4799-AE34-8C70F6305738}"/>
              </a:ext>
            </a:extLst>
          </p:cNvPr>
          <p:cNvSpPr/>
          <p:nvPr/>
        </p:nvSpPr>
        <p:spPr>
          <a:xfrm flipH="1">
            <a:off x="512064" y="5816600"/>
            <a:ext cx="73152" cy="698212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71F4F-AE09-441E-8E37-954CFEA018C4}"/>
              </a:ext>
            </a:extLst>
          </p:cNvPr>
          <p:cNvSpPr txBox="1"/>
          <p:nvPr/>
        </p:nvSpPr>
        <p:spPr>
          <a:xfrm>
            <a:off x="736600" y="5871398"/>
            <a:ext cx="10434504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Brasil opera en otra escala: su mediana es 2,5 veces la argentina. El CV alto de Uruguay refleja su crecimiento, no oscilaciones; la volatilidad se mide con las tasas (diap. 8).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6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17248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273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06 · CRECIMIENTO 2005–2024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Crecimiento acumulado y ritmo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7123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7123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8393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 · 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21441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+430% · 9,2% anual · 1.311 → 6.948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6267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6267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7537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 · Brasil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30585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+228% · 6,5% anual · 14.763 → 48.477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5411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5411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681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 · 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729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+165% · 5,3% anual · 6.458 → 17.122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4555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4555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5825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 · Chile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48873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+76% · 3,0% anual · 6.658 → 11.744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8196" y="1473200"/>
            <a:ext cx="171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Índice base 2005 = 100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Evolución rel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60" y="1158150"/>
            <a:ext cx="8087357" cy="45289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6050061"/>
            <a:ext cx="10826461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Valores nominales, que incluyen la inflación de EE.UU.; el orden no cambia en 2005–2022, los años que Chile informó.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7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48044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135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07 · VOLATILIDAD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las tasas de variación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081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3081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331" y="14351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8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331" y="17399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6,7% · mediana 1,6% · desvío 17,6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3368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3368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331" y="24638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 · 6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331" y="27686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7,3% · mediana 5,0% · desvío 13,8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3655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3655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331" y="34925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Chile · 7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331" y="37973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4,6% · mediana 6,9% · desvío 18,0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3942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3942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331" y="45212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 · 5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331" y="48260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10,7% · mediana 4,6% · desvío 19,0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48124" y="1308100"/>
            <a:ext cx="6572086" cy="41275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5920" y="1473200"/>
            <a:ext cx="2718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Tasas interanuales, 2006–2024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Histograma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49" y="1308100"/>
            <a:ext cx="6819599" cy="41774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4350" y="5605272"/>
            <a:ext cx="1110615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4350" y="5605272"/>
            <a:ext cx="76200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36600" y="5669280"/>
            <a:ext cx="10642600" cy="60350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El rebote de 2022 (+50,3%) eleva la media argentina; la mediana (1,6%, la más baja) refleja un crecimiento típico bajo. Su desvío no es el mayor: Uruguay y Chile oscilan más.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8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57301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59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08 · ATÍPICOS Y PANDEMIA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Volatilidad, pandemia y años atípicos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concentra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los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extremos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968500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20828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2020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2987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−35,9%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7051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mayor caída entre los cuatro países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600" y="3213101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3020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2022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5179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+50,3%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39243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rebote atípico según 1,5 rangos intercuartiles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495800"/>
            <a:ext cx="382895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Brasil +46,8% · Chile +38,8% · Uruguay +25,8% · Argentina +15,7%.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25920" y="1473200"/>
            <a:ext cx="2450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tasas y valores atípicos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Boxplot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447800"/>
            <a:ext cx="6572250" cy="40640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88152"/>
            <a:ext cx="1110996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88152"/>
            <a:ext cx="73152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76913"/>
            <a:ext cx="10643616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Los dos atípicos de Argentina coinciden con el shock de 2020 y su rebote de 2022, y se conservan. Contra 2019, es la que menos se recuperó (+15,7%).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9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09 · COMPOSICIÓN 2005 VS. 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Composición de las exportaciones de servicios, 2005 y 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060704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060704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197864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1490472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Conocimiento: creció del 31% al 51% del total.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274113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274113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411273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2703881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 mayor transformación: 12% → 47%.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487522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487522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24682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Patrón regional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17290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Transporte pierde peso en los cuatro. Viajes cae salvo en Chile.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700930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700930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83809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Diversificación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5130698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Las tres categorías principales pesan menos que en 2005 en todos los países.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Composición 2005 2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89" y="1106424"/>
            <a:ext cx="7033846" cy="457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En los cuatro, la canasta se desplaza hacia conocimiento (informática + servicios empresariales) y transporte pierde peso. Participaciones sobre el total de servicios; Chile 2024 es estimado.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10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58772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10 · ROBUSTEZ DE LA MEDIDA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¿Cambian los hallazgos si se usa el valor balanceado?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16052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Chequeo con el valor balanceado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874520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196596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SE MANTIENEN CON LAS DOS MEDIDAS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176272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9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578608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dirección del cambio en la composición, la diversificación de las canastas y la menor recuperación de Argentina frente a 2019.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0664" y="3351276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434619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CAMBIAN CON EL BALANCEADO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655948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11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4014216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El nivel y el perfil de Argentina: conocimiento en 2024 (51,0% → 36,5%), su ventaja sobre Chile y ser la que más cae.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773168"/>
            <a:ext cx="382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Como la medida cambia resultados, se elige por lo que mide: el valor final es lo que informa cada país.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Conocimiento final vs balanceado" descr="Peso de los servicios de conocimiento en 2005 y 2024, con el valor final y el balance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56" y="1459484"/>
            <a:ext cx="6400800" cy="39116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678424"/>
            <a:ext cx="11109960" cy="585216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678424"/>
            <a:ext cx="73152" cy="585216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17143"/>
            <a:ext cx="10643616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La dirección del cambio se mantiene con tendencia positiva independientemente depende de la medida utilizada.</a:t>
            </a: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11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304800"/>
            <a:ext cx="2416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11 · HALLAZGOS Y PREGUNTAS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86" y="571500"/>
            <a:ext cx="110487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Principales hallazgos y próximos pasos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" y="1404651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700" y="13716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Nivel: Argentina, muy lejos de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699" y="1651000"/>
            <a:ext cx="4976105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mediana anual brasileña (USD 33.156 M) es 2,5 veces la argentina; con el valor balanceado, 3,0 veces.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6100" y="22479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700" y="22479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creció menos que Uruguay y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4700" y="25273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5,3% anual nominal en 2005–2024, contra 9,2% de Uruguay y 6,5% de </a:t>
            </a:r>
            <a:r>
              <a:rPr lang="en-US" sz="13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6100" y="31242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700" y="31242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La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peor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recuperación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post-pandemia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700" y="34036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Argentina </a:t>
            </a:r>
            <a:r>
              <a:rPr lang="en-US" sz="13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crece</a:t>
            </a: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solamente</a:t>
            </a: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15,7% (vecinos: 25,8% a 46,8%)..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40005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700" y="40005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Giro hacia servicios de conocimiento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4700" y="42799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Informática y servicios empresariales ganan peso en los cuatro. Mayor suba: Uruguay (+35,6 pp); segunda, Argentina (+19,9 pp).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6100" y="48768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4700" y="48768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El dato es informado, pero la medida importa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4700" y="51562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Argentina, Brasil y Uruguay informan ≥98,5% de sus datos; Chile, 62,3%. Con el balanceado cambian 11 de 20 afirmaciones.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1990" y="1371600"/>
            <a:ext cx="5748510" cy="41402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4900" y="1600200"/>
            <a:ext cx="342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Próximas preguntas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2039" y="2133600"/>
            <a:ext cx="4704660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7939" y="2298700"/>
            <a:ext cx="42353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 especialización argentina en servicios de conocimiento constituye una ventaja comparativa revelada?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02038" y="3302000"/>
            <a:ext cx="4704657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7939" y="3467100"/>
            <a:ext cx="41362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¿Las diferencias de crecimiento entre los cuatro países son estadísticamente significativas?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02038" y="4521200"/>
            <a:ext cx="47046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Siguiente etapa: índice de Balassa, pruebas para muestras relacionadas y comparación en valores reales o relativos al PBI.</a:t>
            </a:r>
            <a:endParaRPr lang="en-US" sz="1300" b="1" i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A17310-CAE3-4AAA-9E1A-BDA9B99F895C}"/>
              </a:ext>
            </a:extLst>
          </p:cNvPr>
          <p:cNvSpPr/>
          <p:nvPr/>
        </p:nvSpPr>
        <p:spPr>
          <a:xfrm>
            <a:off x="514350" y="5778500"/>
            <a:ext cx="11106150" cy="5969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1C1ED-F45A-49F4-8E61-3AEBBDD8D570}"/>
              </a:ext>
            </a:extLst>
          </p:cNvPr>
          <p:cNvSpPr/>
          <p:nvPr/>
        </p:nvSpPr>
        <p:spPr>
          <a:xfrm>
            <a:off x="514350" y="5778500"/>
            <a:ext cx="76200" cy="5969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EB36B7-F847-4260-8F6C-7068A6ED8948}"/>
              </a:ext>
            </a:extLst>
          </p:cNvPr>
          <p:cNvSpPr txBox="1"/>
          <p:nvPr/>
        </p:nvSpPr>
        <p:spPr>
          <a:xfrm>
            <a:off x="736599" y="5843429"/>
            <a:ext cx="10787043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28445A"/>
                </a:solidFill>
                <a:latin typeface="Aptos"/>
              </a:rPr>
              <a:t>Resultados descriptivos, en USD corrientes y con Chile 2023–2024 estimado. La próxima etapa deberá deflactar y contrastar las diferencias con herramientas inferenciales.</a:t>
            </a:r>
            <a:endParaRPr lang="en-US" sz="13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3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93238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920E3A-FCAD-4F7B-82E4-8123557A5B0A}">
  <we:reference id="cba9fc06-6fc9-492e-9525-923870a3b909" version="2.0.0.1" store="EXCatalog" storeType="EXCatalog"/>
  <we:alternateReferences>
    <we:reference id="WA200010215" version="2.0.0.1" store="en-US" storeType="OMEX"/>
  </we:alternateReferences>
  <we:properties>
    <we:property name="bps.codex_control.document_id" value="&quot;16182a33-af91-42fd-9802-a642c7611c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1574</Words>
  <Application>Microsoft Office PowerPoint</Application>
  <PresentationFormat>Widescreen</PresentationFormat>
  <Paragraphs>196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Brandel, Timothy (PMIMR)</dc:creator>
  <cp:lastModifiedBy>Brandel, Timothy (PMIMR)</cp:lastModifiedBy>
  <cp:revision>19</cp:revision>
  <dcterms:created xsi:type="dcterms:W3CDTF">2026-09-21T22:19:53Z</dcterms:created>
  <dcterms:modified xsi:type="dcterms:W3CDTF">2026-09-22T01:20:29Z</dcterms:modified>
</cp:coreProperties>
</file>