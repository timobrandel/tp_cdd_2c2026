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5" r:id="rId2"/>
    <p:sldId id="281" r:id="rId3"/>
    <p:sldId id="259" r:id="rId4"/>
    <p:sldId id="268" r:id="rId5"/>
    <p:sldId id="269" r:id="rId6"/>
    <p:sldId id="276" r:id="rId7"/>
    <p:sldId id="271" r:id="rId8"/>
    <p:sldId id="272" r:id="rId9"/>
    <p:sldId id="273" r:id="rId10"/>
    <p:sldId id="291" r:id="rId11"/>
    <p:sldId id="287" r:id="rId12"/>
    <p:sldId id="2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68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AC0BA-73A0-4B0E-A430-4BC680F3327B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747C2-43A0-4D20-B35A-E8764EB9D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06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747C2-43A0-4D20-B35A-E8764EB9D68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5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39800" y="1371600"/>
            <a:ext cx="825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33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Evolución y composición de las exportaciones de servicios argentinos</a:t>
            </a:r>
            <a:endParaRPr lang="en-US" sz="33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3302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9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Comparado con Brasil, Chile y Uruguay</a:t>
            </a:r>
            <a:r>
              <a:rPr lang="es-ES" sz="20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· </a:t>
            </a:r>
            <a:r>
              <a:rPr lang="es-ES" sz="19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2005–2024</a:t>
            </a:r>
            <a:endParaRPr lang="en-US" sz="19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15257" y="0"/>
            <a:ext cx="2476438" cy="6858000"/>
          </a:xfrm>
          <a:prstGeom prst="rect">
            <a:avLst/>
          </a:prstGeom>
          <a:solidFill>
            <a:srgbClr val="28445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2500" y="5651500"/>
            <a:ext cx="660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Brenda Firmano · Diego Sebastián Díez de Los Ríos · Timothy Brandel</a:t>
            </a:r>
            <a:br>
              <a:rPr lang="es-E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</a:br>
            <a:r>
              <a:rPr lang="es-E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Ciencia de Datos para Economía y Negocios · FCE-UBA · 21 de septiembre de 2026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81C59A-6422-4A98-9679-14585F4DB35C}"/>
              </a:ext>
            </a:extLst>
          </p:cNvPr>
          <p:cNvSpPr/>
          <p:nvPr/>
        </p:nvSpPr>
        <p:spPr>
          <a:xfrm>
            <a:off x="660400" y="1371600"/>
            <a:ext cx="76200" cy="1333500"/>
          </a:xfrm>
          <a:prstGeom prst="rect">
            <a:avLst/>
          </a:prstGeom>
          <a:solidFill>
            <a:srgbClr val="C86F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F61D57-475D-4997-9CA0-5FAE11423664}"/>
              </a:ext>
            </a:extLst>
          </p:cNvPr>
          <p:cNvSpPr txBox="1"/>
          <p:nvPr/>
        </p:nvSpPr>
        <p:spPr>
          <a:xfrm>
            <a:off x="952500" y="6413500"/>
            <a:ext cx="774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950" dirty="0">
                <a:solidFill>
                  <a:srgbClr val="667580"/>
                </a:solidFill>
                <a:latin typeface="Aptos"/>
              </a:rPr>
              <a:t>Fuente: OCDE-OMC, Balanced Trade in Services (BaTiS), edición BPM6 — diciembre de 2025</a:t>
            </a:r>
            <a:endParaRPr lang="en-US" sz="9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Rotulo entrega"/>
          <p:cNvSpPr/>
          <p:nvPr/>
        </p:nvSpPr>
        <p:spPr>
          <a:xfrm>
            <a:off x="950976" y="9875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INSTANCIA 1: ANÁLISIS EXPLORATORIO DE DATOS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267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9585" y="361950"/>
            <a:ext cx="21338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01 · DATOS Y ESTRUCTURA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585" y="638175"/>
            <a:ext cx="1057248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¿Qué es BaTiS y qué representa cada observación?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585" y="1642033"/>
            <a:ext cx="5048124" cy="4014694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05352" y="1642033"/>
            <a:ext cx="5676758" cy="4014694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72046" y="1848944"/>
            <a:ext cx="51433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9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Base de trabajo: 1.040 observaciones</a:t>
            </a:r>
            <a:endParaRPr lang="en-US" sz="19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585" y="5994400"/>
            <a:ext cx="10972526" cy="482600"/>
          </a:xfrm>
          <a:prstGeom prst="rect">
            <a:avLst/>
          </a:prstGeom>
          <a:solidFill>
            <a:srgbClr val="28445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5568" y="1203361"/>
            <a:ext cx="6688243" cy="25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OECD-WTO Balanced Trade in Services (</a:t>
            </a:r>
            <a:r>
              <a:rPr lang="en-US" sz="1400" dirty="0" err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versión</a:t>
            </a: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diciembre de 2025).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FCE2A0-C4F4-4BEB-B187-BED2349B6934}"/>
              </a:ext>
            </a:extLst>
          </p:cNvPr>
          <p:cNvSpPr txBox="1"/>
          <p:nvPr/>
        </p:nvSpPr>
        <p:spPr>
          <a:xfrm>
            <a:off x="825500" y="61214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50" b="1">
                <a:solidFill>
                  <a:srgbClr val="FFFFFF"/>
                </a:solidFill>
                <a:latin typeface="Aptos"/>
              </a:rPr>
              <a:t>El recorte selecciona AR, BR, CL y UY; socio WL (mundo); flujo X (exportaciones); total S y categorías SA–SL.</a:t>
            </a:r>
            <a:endParaRPr lang="en-US" sz="11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7C25EC-0AE3-40FD-818E-19B384EFE6FA}"/>
              </a:ext>
            </a:extLst>
          </p:cNvPr>
          <p:cNvSpPr txBox="1"/>
          <p:nvPr/>
        </p:nvSpPr>
        <p:spPr>
          <a:xfrm>
            <a:off x="952500" y="1778000"/>
            <a:ext cx="4381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rgbClr val="28445A"/>
                </a:solidFill>
                <a:latin typeface="Aptos"/>
              </a:rPr>
              <a:t>OECD-WTO Balanced Trade in Services (</a:t>
            </a:r>
            <a:r>
              <a:rPr lang="en-US" sz="1600" b="1" dirty="0" err="1">
                <a:solidFill>
                  <a:srgbClr val="28445A"/>
                </a:solidFill>
                <a:latin typeface="Aptos"/>
              </a:rPr>
              <a:t>BaTiS</a:t>
            </a:r>
            <a:r>
              <a:rPr lang="en-US" sz="1600" b="1" dirty="0">
                <a:solidFill>
                  <a:srgbClr val="28445A"/>
                </a:solidFill>
                <a:latin typeface="Aptos"/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6C72FD-C13F-444A-9209-77A0EA358D49}"/>
              </a:ext>
            </a:extLst>
          </p:cNvPr>
          <p:cNvSpPr txBox="1"/>
          <p:nvPr/>
        </p:nvSpPr>
        <p:spPr>
          <a:xfrm>
            <a:off x="952500" y="2485989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2F7D7A"/>
                </a:solidFill>
                <a:latin typeface="Aptos"/>
              </a:rPr>
              <a:t>QUÉ 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178626-D60E-4C4B-BF11-B19C5ED79423}"/>
              </a:ext>
            </a:extLst>
          </p:cNvPr>
          <p:cNvSpPr txBox="1"/>
          <p:nvPr/>
        </p:nvSpPr>
        <p:spPr>
          <a:xfrm>
            <a:off x="952500" y="2727289"/>
            <a:ext cx="43815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dirty="0">
                <a:solidFill>
                  <a:srgbClr val="28445A"/>
                </a:solidFill>
                <a:latin typeface="Aptos"/>
              </a:rPr>
              <a:t>Base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anual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de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comercio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internacional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de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servicios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,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edición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BPM6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publicada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en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diciembre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de 2025.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692073-2F4E-4AF7-ABF3-4AA68AB7543A}"/>
              </a:ext>
            </a:extLst>
          </p:cNvPr>
          <p:cNvSpPr txBox="1"/>
          <p:nvPr/>
        </p:nvSpPr>
        <p:spPr>
          <a:xfrm>
            <a:off x="952500" y="3330921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2F7D7A"/>
                </a:solidFill>
                <a:latin typeface="Aptos"/>
              </a:rPr>
              <a:t>FUENTE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05136A-7856-4AFE-AD65-A5E0FA3B5838}"/>
              </a:ext>
            </a:extLst>
          </p:cNvPr>
          <p:cNvSpPr txBox="1"/>
          <p:nvPr/>
        </p:nvSpPr>
        <p:spPr>
          <a:xfrm>
            <a:off x="952500" y="3572221"/>
            <a:ext cx="4381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00" dirty="0">
                <a:solidFill>
                  <a:srgbClr val="28445A"/>
                </a:solidFill>
                <a:latin typeface="Aptos"/>
              </a:rPr>
              <a:t>Elaborada conjuntamente por la OCDE y la OMC a partir de estadísticas oficiales de balanza de pagos.</a:t>
            </a:r>
            <a:endParaRPr lang="en-US" sz="110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8964FC-99DD-45F8-AB89-A2123B957AD8}"/>
              </a:ext>
            </a:extLst>
          </p:cNvPr>
          <p:cNvSpPr txBox="1"/>
          <p:nvPr/>
        </p:nvSpPr>
        <p:spPr>
          <a:xfrm>
            <a:off x="952500" y="4226653"/>
            <a:ext cx="1270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2F7D7A"/>
                </a:solidFill>
                <a:latin typeface="Aptos"/>
              </a:rPr>
              <a:t>FENÓMENO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61E98E-0AE0-46A7-8734-103DA744F97C}"/>
              </a:ext>
            </a:extLst>
          </p:cNvPr>
          <p:cNvSpPr txBox="1"/>
          <p:nvPr/>
        </p:nvSpPr>
        <p:spPr>
          <a:xfrm>
            <a:off x="952500" y="4467953"/>
            <a:ext cx="4381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00">
                <a:solidFill>
                  <a:srgbClr val="28445A"/>
                </a:solidFill>
                <a:latin typeface="Aptos"/>
              </a:rPr>
              <a:t>Exportaciones de servicios al mundo, desagregadas por categoría de la clasificación EBOPS 2010.</a:t>
            </a:r>
            <a:endParaRPr lang="en-US" sz="1100">
              <a:solidFill>
                <a:srgbClr val="28445A"/>
              </a:solidFill>
              <a:latin typeface="Apto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A8DA98-7B81-40B9-B85D-7508FEF75102}"/>
              </a:ext>
            </a:extLst>
          </p:cNvPr>
          <p:cNvSpPr txBox="1"/>
          <p:nvPr/>
        </p:nvSpPr>
        <p:spPr>
          <a:xfrm>
            <a:off x="952500" y="52705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050" b="1" dirty="0">
                <a:solidFill>
                  <a:srgbClr val="667580"/>
                </a:solidFill>
                <a:latin typeface="Aptos"/>
              </a:rPr>
              <a:t>Base completa: 49.604.340 filas · 12 variables · sin duplicados.</a:t>
            </a:r>
            <a:endParaRPr lang="en-US" sz="1050" b="1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8DDB33-E1FD-44C1-B9F2-CBAD55931C47}"/>
              </a:ext>
            </a:extLst>
          </p:cNvPr>
          <p:cNvSpPr txBox="1"/>
          <p:nvPr/>
        </p:nvSpPr>
        <p:spPr>
          <a:xfrm>
            <a:off x="6172200" y="2655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Cobertura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ED7455-552D-4440-95F3-7468E8889E18}"/>
              </a:ext>
            </a:extLst>
          </p:cNvPr>
          <p:cNvSpPr txBox="1"/>
          <p:nvPr/>
        </p:nvSpPr>
        <p:spPr>
          <a:xfrm>
            <a:off x="8128000" y="2642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 dirty="0">
                <a:solidFill>
                  <a:srgbClr val="28445A"/>
                </a:solidFill>
                <a:latin typeface="Aptos"/>
              </a:rPr>
              <a:t>4 países · 12 categorías de servicio y el total.</a:t>
            </a:r>
            <a:endParaRPr lang="en-US" sz="120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CF15D4-0075-443F-A1DC-F8A056FFF727}"/>
              </a:ext>
            </a:extLst>
          </p:cNvPr>
          <p:cNvSpPr txBox="1"/>
          <p:nvPr/>
        </p:nvSpPr>
        <p:spPr>
          <a:xfrm>
            <a:off x="6172200" y="3290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>
                <a:solidFill>
                  <a:srgbClr val="2F7D7A"/>
                </a:solidFill>
                <a:latin typeface="Aptos"/>
              </a:rPr>
              <a:t>Unidad</a:t>
            </a:r>
            <a:r>
              <a:rPr lang="en-US" sz="1050" b="1" dirty="0">
                <a:solidFill>
                  <a:srgbClr val="2F7D7A"/>
                </a:solidFill>
                <a:latin typeface="Aptos"/>
              </a:rPr>
              <a:t> de </a:t>
            </a:r>
            <a:r>
              <a:rPr lang="en-US" sz="1050" b="1" dirty="0" err="1">
                <a:solidFill>
                  <a:srgbClr val="2F7D7A"/>
                </a:solidFill>
                <a:latin typeface="Aptos"/>
              </a:rPr>
              <a:t>observación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FECE55-F200-4BAD-889E-6ACE5BD5B2DD}"/>
              </a:ext>
            </a:extLst>
          </p:cNvPr>
          <p:cNvSpPr txBox="1"/>
          <p:nvPr/>
        </p:nvSpPr>
        <p:spPr>
          <a:xfrm>
            <a:off x="8128000" y="3277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28445A"/>
                </a:solidFill>
                <a:latin typeface="Aptos"/>
              </a:rPr>
              <a:t>País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exportador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×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año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×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categoría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61AA23-C953-4007-AA73-CA65EE61D733}"/>
              </a:ext>
            </a:extLst>
          </p:cNvPr>
          <p:cNvSpPr txBox="1"/>
          <p:nvPr/>
        </p:nvSpPr>
        <p:spPr>
          <a:xfrm>
            <a:off x="6172200" y="3925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Período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B06AFD-6DAD-47BB-AFFE-9F76E0862A1E}"/>
              </a:ext>
            </a:extLst>
          </p:cNvPr>
          <p:cNvSpPr txBox="1"/>
          <p:nvPr/>
        </p:nvSpPr>
        <p:spPr>
          <a:xfrm>
            <a:off x="8128000" y="3912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28445A"/>
                </a:solidFill>
                <a:latin typeface="Aptos"/>
              </a:rPr>
              <a:t>2005–2024 · 20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observaciones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anuales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2736EA-F575-42A0-A3C2-C1331DDF28D1}"/>
              </a:ext>
            </a:extLst>
          </p:cNvPr>
          <p:cNvSpPr txBox="1"/>
          <p:nvPr/>
        </p:nvSpPr>
        <p:spPr>
          <a:xfrm>
            <a:off x="6172200" y="4560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Filtros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CBDC45-A86D-476A-80EF-AFCA405698E5}"/>
              </a:ext>
            </a:extLst>
          </p:cNvPr>
          <p:cNvSpPr txBox="1"/>
          <p:nvPr/>
        </p:nvSpPr>
        <p:spPr>
          <a:xfrm>
            <a:off x="8128000" y="4547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28445A"/>
                </a:solidFill>
                <a:latin typeface="Aptos"/>
              </a:rPr>
              <a:t>Socio =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mundo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·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flujo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=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exportaciones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3F4CD8-8941-423B-8BE0-5D97335920DE}"/>
              </a:ext>
            </a:extLst>
          </p:cNvPr>
          <p:cNvSpPr txBox="1"/>
          <p:nvPr/>
        </p:nvSpPr>
        <p:spPr>
          <a:xfrm>
            <a:off x="6172200" y="5195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Integridad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18F2D5-EE5F-472F-8DD7-6CC3ED5C7430}"/>
              </a:ext>
            </a:extLst>
          </p:cNvPr>
          <p:cNvSpPr txBox="1"/>
          <p:nvPr/>
        </p:nvSpPr>
        <p:spPr>
          <a:xfrm>
            <a:off x="8128000" y="5182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 dirty="0">
                <a:solidFill>
                  <a:srgbClr val="28445A"/>
                </a:solidFill>
                <a:latin typeface="Aptos"/>
              </a:rPr>
              <a:t>Sin duplicados ni combinaciones faltantes.</a:t>
            </a:r>
            <a:endParaRPr lang="en-US" sz="120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54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2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150490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6733" y="419100"/>
            <a:ext cx="225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02 · TEMA Y PREGUNTA GUÍA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6733" y="723900"/>
            <a:ext cx="10667733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7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Pregunta de investigación y alcance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4852" y="1676400"/>
            <a:ext cx="103819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¿Cómo evolucionaron el nivel y la composición de las exportaciones de servicios de Argentina entre 2005 y 2024, comparadas con Brasil, Chile y Uruguay?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09605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9605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19150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1. Nivel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19150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¿Cuánto exporta cada país y cómo evolucionó?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19410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19410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28954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2. Crecimiento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28954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¿Quién avanzó más desde el mismo punto de partida?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29214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29214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38759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3. Volatilidad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38759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¿Qué tan frecuente y extrema fue la variación anual?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39019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39019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48564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4. Composición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48564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¿Qué servicios ganaron o perdieron peso?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66733" y="5676900"/>
            <a:ext cx="10858229" cy="6096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7D54F7-EE2F-4CA4-AF7C-A8883D119626}"/>
              </a:ext>
            </a:extLst>
          </p:cNvPr>
          <p:cNvSpPr txBox="1"/>
          <p:nvPr/>
        </p:nvSpPr>
        <p:spPr>
          <a:xfrm>
            <a:off x="1041400" y="5829300"/>
            <a:ext cx="1003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Alcance: comparación descriptiva de niveles, crecimiento, volatilidad y composición en USD corrientes.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6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3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423291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36" y="304800"/>
            <a:ext cx="11981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03 · VARIABLES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2436" y="571500"/>
            <a:ext cx="11048724" cy="69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Variables y distribución de los valores exportados</a:t>
            </a:r>
            <a:endParaRPr lang="en-US" sz="2600" b="1" dirty="0">
              <a:solidFill>
                <a:srgbClr val="24313D"/>
              </a:solidFill>
              <a:latin typeface="Aptos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874992"/>
              </p:ext>
            </p:extLst>
          </p:nvPr>
        </p:nvGraphicFramePr>
        <p:xfrm>
          <a:off x="546100" y="1422400"/>
          <a:ext cx="4480560" cy="3241703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8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 / grupo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y uso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Final_value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Numérica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exportado que informa el país; variable principal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Reported_value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Numérica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 informado; vacío (NA) si el valor fue estimado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5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Balanced_value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Numérica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conciliado con los socios; control de calidad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5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Temporal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Año, de 2005 a 2024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Reporter, Item_code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Categóricas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País (4) y categoría de servicio (13); agrupan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5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Partner, Flow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Categóricas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Socio y flujo; filtros: mundo y exportaciones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5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Methodology, type_*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Categóricas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del dato y tipos; constantes o trazabilidad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6100" y="4762500"/>
            <a:ext cx="448056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6100" y="4762500"/>
            <a:ext cx="0" cy="15113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2000" y="4940300"/>
            <a:ext cx="403250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Qué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muestra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el 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gráfico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?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5257800"/>
            <a:ext cx="4032504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3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Pocos rubros concentran montos muy altos (asimetría a la derecha): la mediana (USD 228 M) describe mejor el valor típico que la media (USD 1.219 M). Los 150 ceros quedan fuera de la escala logarítmica; 80 son de Chile, en categorías que no informa.</a:t>
            </a:r>
            <a:endParaRPr lang="en-US" sz="13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230368" y="1422400"/>
            <a:ext cx="6391656" cy="49403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40680" y="15494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Distribución de 810 valores positivos · escala logarítmica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13" name="Distribución de valo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778000"/>
            <a:ext cx="6217920" cy="4261529"/>
          </a:xfrm>
          <a:prstGeom prst="rect">
            <a:avLst/>
          </a:prstGeom>
        </p:spPr>
      </p:pic>
      <p:sp>
        <p:nvSpPr>
          <p:cNvPr id="14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4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3065805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36" y="304800"/>
            <a:ext cx="18291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04 · CALIDAD Y ORIGEN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2436" y="571500"/>
            <a:ext cx="1104872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Origen del dato y criterio de medición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8614" y="1398074"/>
            <a:ext cx="4095648" cy="4224528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1030" y="1651000"/>
            <a:ext cx="363845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Disponibilidad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del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dato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informado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860" y="1983647"/>
            <a:ext cx="3638459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Argentina: 99,6%
</a:t>
            </a:r>
            <a:r>
              <a:rPr lang="en-US" sz="1400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Brasil</a:t>
            </a:r>
            <a:r>
              <a:rPr lang="en-US" sz="14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: 100%
Uruguay: 98,5%
Chile: 62,3%</a:t>
            </a:r>
            <a:endParaRPr lang="en-US" sz="14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0338" y="3922772"/>
            <a:ext cx="3632200" cy="368300"/>
          </a:xfrm>
          <a:prstGeom prst="rect">
            <a:avLst/>
          </a:prstGeom>
          <a:solidFill>
            <a:srgbClr val="C86F52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/>
                <a:ea typeface="Arial" pitchFamily="34" charset="-122"/>
                <a:cs typeface="Arial" pitchFamily="34" charset="-120"/>
              </a:rPr>
              <a:t>Variable principal: Final_value</a:t>
            </a:r>
            <a:endParaRPr lang="en-US" sz="11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07961" y="1398074"/>
            <a:ext cx="6927286" cy="4224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Brecha balanceado fi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906" y="1453896"/>
            <a:ext cx="5985164" cy="4114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D92D5B-9E69-4311-B703-D0088E50E0D7}"/>
              </a:ext>
            </a:extLst>
          </p:cNvPr>
          <p:cNvSpPr txBox="1"/>
          <p:nvPr/>
        </p:nvSpPr>
        <p:spPr>
          <a:xfrm>
            <a:off x="571500" y="4460642"/>
            <a:ext cx="3721038" cy="160043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 b="1" dirty="0" err="1">
                <a:solidFill>
                  <a:srgbClr val="24313D"/>
                </a:solidFill>
                <a:latin typeface="Aptos"/>
              </a:rPr>
              <a:t>Final_value</a:t>
            </a:r>
            <a:r>
              <a:rPr lang="es-ES" sz="1400" b="1" dirty="0">
                <a:solidFill>
                  <a:srgbClr val="24313D"/>
                </a:solidFill>
                <a:latin typeface="Aptos"/>
              </a:rPr>
              <a:t> </a:t>
            </a:r>
            <a:r>
              <a:rPr lang="es-ES" sz="1400" dirty="0">
                <a:solidFill>
                  <a:srgbClr val="24313D"/>
                </a:solidFill>
                <a:latin typeface="Aptos"/>
              </a:rPr>
              <a:t>es el valor que informa cada país en su balanza de pagos, completado con estimaciones de OCDE-OMC donde falta, sin conciliarlo con lo que declaran sus socios.</a:t>
            </a:r>
            <a:endParaRPr lang="en-US" sz="14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D1929D-499F-4697-B0E0-3EBAB33C73C9}"/>
              </a:ext>
            </a:extLst>
          </p:cNvPr>
          <p:cNvSpPr txBox="1"/>
          <p:nvPr/>
        </p:nvSpPr>
        <p:spPr>
          <a:xfrm>
            <a:off x="571500" y="2942572"/>
            <a:ext cx="3632200" cy="89255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300" dirty="0">
                <a:solidFill>
                  <a:srgbClr val="667580"/>
                </a:solidFill>
                <a:latin typeface="Aptos"/>
              </a:rPr>
              <a:t>Porcentaje de las 260 observaciones de cada país informado por una fuente oficial (FMI, fuente nacional u OCDE). En Chile, 4 categorías y los años 2023–2024 son estimados.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2064" y="5760720"/>
            <a:ext cx="11109960" cy="749808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2064" y="5760720"/>
            <a:ext cx="73152" cy="749808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40664" y="5824728"/>
            <a:ext cx="10643616" cy="62179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Lectura: la brecha no es pareja. Argentina queda siempre por debajo (−2,8% a −18,5%), Chile llega a +57% y Uruguay pasa de +44% a negativo desde 2012; en Chile las dos medidas casi no se mueven juntas (correlación 0,67).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9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5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883928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0972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05 · TAMAÑO Y EVOLUCIÓN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Evolución del valor exportado, 2005–2024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295400"/>
            <a:ext cx="3428914" cy="42926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2931" y="1524000"/>
            <a:ext cx="29717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Mediana anual del período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2931" y="1946085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33.156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2931" y="2263585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Brasil · millones de USD · CV 0,26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2931" y="2708085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13.411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931" y="3025585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Argentina · CV 0,23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2931" y="3470085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8.897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2931" y="3787585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Chile · CV 0,20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2931" y="4232085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4.933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2931" y="4549585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Uruguay · CV 0,41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930" y="4917888"/>
            <a:ext cx="311189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Desde 2006, Argentina supera a Chile en nivel exportado. El máximo informado de Chile continúa siendo 2011.</a:t>
            </a:r>
            <a:endParaRPr lang="en-US" sz="12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71846" y="1295400"/>
            <a:ext cx="7583048" cy="429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49641" y="1473200"/>
            <a:ext cx="30837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Exportaciones de servicios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19" name="Evolución nive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1422400"/>
            <a:ext cx="7583048" cy="4191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8D252A5-5D26-4578-8EED-1CE01F521FA1}"/>
              </a:ext>
            </a:extLst>
          </p:cNvPr>
          <p:cNvSpPr/>
          <p:nvPr/>
        </p:nvSpPr>
        <p:spPr>
          <a:xfrm>
            <a:off x="514350" y="5816599"/>
            <a:ext cx="11240544" cy="698213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DDFC74-9C4D-4799-AE34-8C70F6305738}"/>
              </a:ext>
            </a:extLst>
          </p:cNvPr>
          <p:cNvSpPr/>
          <p:nvPr/>
        </p:nvSpPr>
        <p:spPr>
          <a:xfrm flipH="1">
            <a:off x="468631" y="5816600"/>
            <a:ext cx="45719" cy="698212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471F4F-AE09-441E-8E37-954CFEA018C4}"/>
              </a:ext>
            </a:extLst>
          </p:cNvPr>
          <p:cNvSpPr txBox="1"/>
          <p:nvPr/>
        </p:nvSpPr>
        <p:spPr>
          <a:xfrm>
            <a:off x="736600" y="5871398"/>
            <a:ext cx="10434504" cy="58477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600" b="1" dirty="0">
                <a:solidFill>
                  <a:srgbClr val="28445A"/>
                </a:solidFill>
                <a:latin typeface="Aptos"/>
              </a:rPr>
              <a:t>Lectura: Brasil lidera en escala (su mediana es 2,5 veces la argentina). Los cuatro caen en 2020 y vuelven a crecer. Uruguay es el más disperso en términos relativos (CV = desvío / media).</a:t>
            </a:r>
            <a:endParaRPr lang="en-US" sz="16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3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6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2172480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273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06 · CRECIMIENTO 2005–2024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Crecimiento acumulado y ritmo anual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7123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6086" y="17123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281" y="18393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1 · Uruguay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281" y="21441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+430% · 9,2% anual · 1.311 → 6.948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337" y="26267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6086" y="26267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281" y="27537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2 · Brasil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281" y="30585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+228% · 6,5% anual · 14.763 → 48.477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4337" y="35411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6086" y="35411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281" y="36681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3 · Argentina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281" y="39729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+165% · 5,3% anual · 6.458 → 17.122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4337" y="44555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6086" y="44555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281" y="45825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4 · Chile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9281" y="48873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+76% · 3,0% anual · 6.658 → 11.744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43060" y="1060450"/>
            <a:ext cx="8087357" cy="466725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78196" y="1473200"/>
            <a:ext cx="171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Índice base 2005 = 100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24" name="Evolución rel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060" y="1158150"/>
            <a:ext cx="8087357" cy="452892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DA8287D-CCAF-4DD0-AEF5-68F79D5DD3D6}"/>
              </a:ext>
            </a:extLst>
          </p:cNvPr>
          <p:cNvSpPr/>
          <p:nvPr/>
        </p:nvSpPr>
        <p:spPr>
          <a:xfrm>
            <a:off x="514349" y="5880100"/>
            <a:ext cx="11516061" cy="62230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599483-3C28-4084-9592-A21EFDE93634}"/>
              </a:ext>
            </a:extLst>
          </p:cNvPr>
          <p:cNvSpPr/>
          <p:nvPr/>
        </p:nvSpPr>
        <p:spPr>
          <a:xfrm>
            <a:off x="514350" y="5880100"/>
            <a:ext cx="76200" cy="622300"/>
          </a:xfrm>
          <a:prstGeom prst="rect">
            <a:avLst/>
          </a:prstGeom>
          <a:solidFill>
            <a:srgbClr val="C86F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2CFAF6-9838-43C5-BC67-6F59CE99EE52}"/>
              </a:ext>
            </a:extLst>
          </p:cNvPr>
          <p:cNvSpPr txBox="1"/>
          <p:nvPr/>
        </p:nvSpPr>
        <p:spPr>
          <a:xfrm>
            <a:off x="736599" y="5926951"/>
            <a:ext cx="10826461" cy="553998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500" b="1" dirty="0">
                <a:solidFill>
                  <a:srgbClr val="28445A"/>
                </a:solidFill>
                <a:latin typeface="Aptos"/>
              </a:rPr>
              <a:t>Valores nominales en millones de USD (2005 → 2024), que incluyen la inflación de EE.UU. En 2005–2022, los años que Chile informó, el orden es el mismo. Brasil tiene el mayor aumento absoluto: +33.714.</a:t>
            </a:r>
            <a:endParaRPr lang="en-US" sz="15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8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7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1480442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135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07 · VOLATILIDAD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Distribución de las tasas de variación anual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3081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6086" y="13081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331" y="14351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 · 8 caídas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331" y="17399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6,7% · mediana 1,6% · desvío 17,6 pp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337" y="23368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6086" y="23368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331" y="24638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Brasil · 6 caídas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8331" y="27686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7,3% · mediana 5,0% · desvío 13,8 pp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4337" y="33655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6086" y="33655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331" y="34925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Chile · 7 caídas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8331" y="37973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4,6% · mediana 6,9% · desvío 18,0 pp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4337" y="43942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6086" y="43942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8331" y="45212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Uruguay · 5 caídas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331" y="48260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10,7% · mediana 4,6% · desvío 19,0 pp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48124" y="1308100"/>
            <a:ext cx="6572086" cy="41275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25920" y="1473200"/>
            <a:ext cx="27184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Tasas interanuales, 2006–2024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24" name="Histograma tas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49" y="1308100"/>
            <a:ext cx="6819599" cy="417741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4350" y="5605272"/>
            <a:ext cx="11106150" cy="73152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4350" y="5605272"/>
            <a:ext cx="76200" cy="731520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36600" y="5669280"/>
            <a:ext cx="10642600" cy="60350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500" b="1" dirty="0">
                <a:solidFill>
                  <a:srgbClr val="28445A"/>
                </a:solidFill>
                <a:latin typeface="Aptos"/>
              </a:rPr>
              <a:t>Lectura: la media argentina se parece a la regional, pero su mediana es la más baja y tiene más años de caída (8 de 19). Su desvío no es el más alto: Uruguay y Chile oscilan más.</a:t>
            </a:r>
            <a:endParaRPr lang="en-US" sz="15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8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8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3573013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0597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08 · ATÍPICOS Y PANDEMIA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Volatilidad, pandemia y años atípicos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333500"/>
            <a:ext cx="4286143" cy="42926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2931" y="1524000"/>
            <a:ext cx="3828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concentra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los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extremos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931" y="1968500"/>
            <a:ext cx="3828954" cy="11176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5328" y="2082800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2020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5328" y="2298700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−35,9%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5328" y="2705100"/>
            <a:ext cx="352416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mayor caída entre los cuatro países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6600" y="3213101"/>
            <a:ext cx="3828954" cy="11176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5328" y="3302000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2022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95328" y="3517900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+50,3%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5328" y="3924300"/>
            <a:ext cx="352416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rebote atípico según 1,5 rangos intercuartiles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931" y="4495800"/>
            <a:ext cx="3828954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2024 vs. 2019: Brasil +46,8% · Chile +38,8% · Uruguay +25,8% · Argentina +15,7%.</a:t>
            </a:r>
            <a:endParaRPr lang="en-US" sz="11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48124" y="1333500"/>
            <a:ext cx="6572086" cy="429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25920" y="1473200"/>
            <a:ext cx="24507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Distribución de tasas y valores atípicos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19" name="Boxplot tas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1447800"/>
            <a:ext cx="6572250" cy="4064000"/>
          </a:xfrm>
          <a:prstGeom prst="rect">
            <a:avLst/>
          </a:prstGeom>
        </p:spPr>
      </p:pic>
      <p:sp>
        <p:nvSpPr>
          <p:cNvPr id="20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2064" y="5788152"/>
            <a:ext cx="11109960" cy="73152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2064" y="5788152"/>
            <a:ext cx="73152" cy="731520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40664" y="5876913"/>
            <a:ext cx="10643616" cy="553998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500" b="1" dirty="0">
                <a:solidFill>
                  <a:srgbClr val="28445A"/>
                </a:solidFill>
                <a:latin typeface="Aptos"/>
              </a:rPr>
              <a:t>Explicamos los años atípicos que coinciden con el shock de la pandemia y su rebote. La recuperación se mide contra 2019, el nivel previo al shock.</a:t>
            </a:r>
            <a:endParaRPr lang="en-US" sz="15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3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9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2740743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92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09 · COMPOSICIÓN 2005 VS. 2024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Composición de las exportaciones de servicios, 2005 y 2024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060704"/>
            <a:ext cx="32003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6086" y="1060704"/>
            <a:ext cx="0" cy="10241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281" y="1197864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281" y="1490472"/>
            <a:ext cx="2793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Conocimiento: creció del 31% al 51% del total.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337" y="2274113"/>
            <a:ext cx="32003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6086" y="2274113"/>
            <a:ext cx="0" cy="10241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281" y="2411273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Uruguay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281" y="2703881"/>
            <a:ext cx="2793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La mayor transformación: 12% → 47%.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4337" y="3487522"/>
            <a:ext cx="32003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6086" y="3487522"/>
            <a:ext cx="0" cy="10241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281" y="3624682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Patrón regional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281" y="3917290"/>
            <a:ext cx="2793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Transporte pierde peso en los cuatro. Viajes cae salvo en Chile.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4337" y="4700930"/>
            <a:ext cx="32003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6086" y="4700930"/>
            <a:ext cx="0" cy="1024128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281" y="483809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Diversificación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9281" y="5130698"/>
            <a:ext cx="2793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Las tres categorías principales pesan menos que en 2005 en todos los países.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43060" y="1060450"/>
            <a:ext cx="8087357" cy="466725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Composición 2005 20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789" y="1106424"/>
            <a:ext cx="7033846" cy="457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DA8287D-CCAF-4DD0-AEF5-68F79D5DD3D6}"/>
              </a:ext>
            </a:extLst>
          </p:cNvPr>
          <p:cNvSpPr/>
          <p:nvPr/>
        </p:nvSpPr>
        <p:spPr>
          <a:xfrm>
            <a:off x="514349" y="5880100"/>
            <a:ext cx="11516061" cy="62230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599483-3C28-4084-9592-A21EFDE93634}"/>
              </a:ext>
            </a:extLst>
          </p:cNvPr>
          <p:cNvSpPr/>
          <p:nvPr/>
        </p:nvSpPr>
        <p:spPr>
          <a:xfrm>
            <a:off x="514350" y="5880100"/>
            <a:ext cx="76200" cy="622300"/>
          </a:xfrm>
          <a:prstGeom prst="rect">
            <a:avLst/>
          </a:prstGeom>
          <a:solidFill>
            <a:srgbClr val="C86F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2CFAF6-9838-43C5-BC67-6F59CE99EE52}"/>
              </a:ext>
            </a:extLst>
          </p:cNvPr>
          <p:cNvSpPr txBox="1"/>
          <p:nvPr/>
        </p:nvSpPr>
        <p:spPr>
          <a:xfrm>
            <a:off x="736599" y="5926951"/>
            <a:ext cx="10826461" cy="553998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500" b="1" dirty="0">
                <a:solidFill>
                  <a:srgbClr val="28445A"/>
                </a:solidFill>
                <a:latin typeface="Aptos"/>
              </a:rPr>
              <a:t>Lectura: la canasta se desplazó hacia informática y otros servicios empresariales, y transporte perdió peso. Las participaciones se calculan sobre el total S; “conocimiento” reúne ambos rubros; Chile 2024 es estimado.</a:t>
            </a:r>
            <a:endParaRPr lang="en-US" sz="15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8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10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587720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92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10 · ROBUSTEZ DE LA MEDIDA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¿Cambian los hallazgos si se usa el valor balanceado?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333500"/>
            <a:ext cx="4286143" cy="416052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2931" y="1524000"/>
            <a:ext cx="3828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Chequeo con el valor balanceado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931" y="1874520"/>
            <a:ext cx="3828954" cy="132588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5328" y="1965960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SE MANTIENEN CON LAS DOS MEDIDAS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5328" y="2176272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9 de 20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5328" y="2578608"/>
            <a:ext cx="352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La dirección del cambio en la composición, la diversificación de las canastas y la menor recuperación de Argentina frente a 2019.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0664" y="3351276"/>
            <a:ext cx="3828954" cy="132588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5328" y="3434619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CAMBIAN CON EL BALANCEADO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95328" y="3655948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11 de 20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5328" y="4014216"/>
            <a:ext cx="352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El nivel y el perfil de Argentina: conocimiento en 2024 (51,0% → 36,5%), su ventaja sobre Chile y ser la que más cae.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931" y="4773168"/>
            <a:ext cx="3828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Como la medida cambia resultados, se elige por lo que mide: el valor final es lo que informa cada país.</a:t>
            </a:r>
            <a:endParaRPr lang="en-US" sz="11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48124" y="1333500"/>
            <a:ext cx="6572086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Conocimiento final vs balanceado" descr="Peso de los servicios de conocimiento en 2005 y 2024, con el valor final y el balancea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356" y="1459484"/>
            <a:ext cx="6400800" cy="3911600"/>
          </a:xfrm>
          <a:prstGeom prst="rect">
            <a:avLst/>
          </a:prstGeom>
        </p:spPr>
      </p:pic>
      <p:sp>
        <p:nvSpPr>
          <p:cNvPr id="20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2064" y="5678424"/>
            <a:ext cx="11109960" cy="585216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2064" y="5678424"/>
            <a:ext cx="73152" cy="585216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40664" y="5709422"/>
            <a:ext cx="10643616" cy="52322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Se mantiene la dirección del cambio, independientemente de la medida utilizada.</a:t>
            </a:r>
          </a:p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En esta instancia, prevalece valor final por explicar mejor la variación en términos absolutos.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3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11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2740743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304800"/>
            <a:ext cx="2416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11 · HALLAZGOS Y PREGUNTAS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1486" y="571500"/>
            <a:ext cx="1104872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Principales hallazgos y próximos pasos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6100" y="1404651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4700" y="13716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 y Uruguay lideran el giro hacia conocimiento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4699" y="1651000"/>
            <a:ext cx="4976105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Conocimiento pasa de 31% a 51% en Argentina y de 12% a 47% en Uruguay.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6100" y="22479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4700" y="22479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 creció menos que Uruguay y Brasil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4700" y="25273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+165% nominal (5,3% anual), frente a +430% de Uruguay y +228% de Brasil; Chile, +76%.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6100" y="31242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4700" y="31242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La media engaña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4700" y="34036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Argentina tiene la mediana más baja y 8 años de caída.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6100" y="40005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4700" y="40005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Pandemia: caída mayor, recuperación menor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4700" y="42799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−35,9% en 2020; solo +15,7% frente a 2019 en 2024.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6100" y="48768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4700" y="48768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Brasil domina en escala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4700" y="51562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Su mediana anual es USD 33.156 M: más del doble que Argentina y casi cuatro veces Chile.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71990" y="1371600"/>
            <a:ext cx="5748510" cy="41402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84900" y="1600200"/>
            <a:ext cx="342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Próximas preguntas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02039" y="2133600"/>
            <a:ext cx="4704660" cy="99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17939" y="2298700"/>
            <a:ext cx="423537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¿La especialización argentina en servicios de conocimiento constituye una ventaja comparativa revelada?</a:t>
            </a:r>
            <a:endParaRPr lang="en-US" sz="13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02038" y="3302000"/>
            <a:ext cx="4704657" cy="99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17939" y="3467100"/>
            <a:ext cx="413622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¿Las diferencias de crecimiento entre los cuatro países son estadísticamente significativas?</a:t>
            </a:r>
            <a:endParaRPr lang="en-US" sz="13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02038" y="4521200"/>
            <a:ext cx="470465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Siguiente etapa: índice de Balassa, pruebas para muestras relacionadas y comparación en valores reales o relativos al PBI.</a:t>
            </a:r>
            <a:endParaRPr lang="en-US" sz="1300" b="1" i="1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A17310-CAE3-4AAA-9E1A-BDA9B99F895C}"/>
              </a:ext>
            </a:extLst>
          </p:cNvPr>
          <p:cNvSpPr/>
          <p:nvPr/>
        </p:nvSpPr>
        <p:spPr>
          <a:xfrm>
            <a:off x="514350" y="5778500"/>
            <a:ext cx="11106150" cy="59690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41C1ED-F45A-49F4-8E61-3AEBBDD8D570}"/>
              </a:ext>
            </a:extLst>
          </p:cNvPr>
          <p:cNvSpPr/>
          <p:nvPr/>
        </p:nvSpPr>
        <p:spPr>
          <a:xfrm>
            <a:off x="514350" y="5778500"/>
            <a:ext cx="76200" cy="596900"/>
          </a:xfrm>
          <a:prstGeom prst="rect">
            <a:avLst/>
          </a:prstGeom>
          <a:solidFill>
            <a:srgbClr val="C86F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EB36B7-F847-4260-8F6C-7068A6ED8948}"/>
              </a:ext>
            </a:extLst>
          </p:cNvPr>
          <p:cNvSpPr txBox="1"/>
          <p:nvPr/>
        </p:nvSpPr>
        <p:spPr>
          <a:xfrm>
            <a:off x="736599" y="5843429"/>
            <a:ext cx="10787043" cy="49244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300" b="1" dirty="0">
                <a:solidFill>
                  <a:srgbClr val="28445A"/>
                </a:solidFill>
                <a:latin typeface="Aptos"/>
              </a:rPr>
              <a:t>Cierre: los resultados son descriptivos y nominales. La próxima etapa deberá deflactar los valores y contrastar las diferencias entre países con herramientas inferenciales.</a:t>
            </a:r>
            <a:endParaRPr lang="en-US" sz="13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33" name="Numero de diapositiva"/>
          <p:cNvSpPr txBox="1"/>
          <p:nvPr/>
        </p:nvSpPr>
        <p:spPr>
          <a:xfrm>
            <a:off x="11201400" y="657453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r"/>
            <a:fld id="{B6F15528-21DE-4FAA-801E-634DDDAF4B2B}" type="slidenum">
              <a:rPr lang="es-AR" sz="1000">
                <a:solidFill>
                  <a:srgbClr val="667580"/>
                </a:solidFill>
                <a:latin typeface="Aptos"/>
              </a:rPr>
              <a:t>12</a:t>
            </a:fld>
            <a:endParaRPr lang="es-AR" sz="1000"/>
          </a:p>
        </p:txBody>
      </p:sp>
    </p:spTree>
    <p:extLst>
      <p:ext uri="{BB962C8B-B14F-4D97-AF65-F5344CB8AC3E}">
        <p14:creationId xmlns:p14="http://schemas.microsoft.com/office/powerpoint/2010/main" val="2932388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9920E3A-FCAD-4F7B-82E4-8123557A5B0A}">
  <we:reference id="cba9fc06-6fc9-492e-9525-923870a3b909" version="2.0.0.1" store="EXCatalog" storeType="EXCatalog"/>
  <we:alternateReferences>
    <we:reference id="WA200010215" version="2.0.0.1" store="en-US" storeType="OMEX"/>
  </we:alternateReferences>
  <we:properties>
    <we:property name="bps.codex_control.document_id" value="&quot;16182a33-af91-42fd-9802-a642c7611c2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1612</Words>
  <Application>Microsoft Office PowerPoint</Application>
  <PresentationFormat>Widescreen</PresentationFormat>
  <Paragraphs>197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Brandel, Timothy (PMIMR)</dc:creator>
  <cp:lastModifiedBy>Brandel, Timothy (PMIMR)</cp:lastModifiedBy>
  <cp:revision>18</cp:revision>
  <dcterms:created xsi:type="dcterms:W3CDTF">2026-09-21T22:19:53Z</dcterms:created>
  <dcterms:modified xsi:type="dcterms:W3CDTF">2026-09-22T00:46:09Z</dcterms:modified>
</cp:coreProperties>
</file>