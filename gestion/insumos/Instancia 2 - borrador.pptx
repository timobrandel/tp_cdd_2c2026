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si es un ANOVA de medidas repetidas: "No exactamente: usamos un ANOVA con el país como bloque y el test de Friedman como control dentro de cada país." El eta² parcial del modelo con bloque (0,48) no se compara con el 0,17: tiene otro denominador. El modelo con bloque es aditivo y sus residuos cumplen peor los supuestos (W = 0,96; cociente de desvíos 3,01), por eso se agregó el Friedman.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0072" y="0"/>
            <a:ext cx="2468880" cy="6858000"/>
          </a:xfrm>
          <a:prstGeom prst="rect">
            <a:avLst/>
          </a:prstGeom>
          <a:solidFill>
            <a:srgbClr val="28445A"/>
          </a:solidFill>
          <a:ln w="12700">
            <a:solidFill>
              <a:srgbClr val="2844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0976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INSTANCIA 2: MÉTODOS ESTADÍSTICOS Y CUANTITATIVOS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73152" cy="1325880"/>
          </a:xfrm>
          <a:prstGeom prst="rect">
            <a:avLst/>
          </a:prstGeom>
          <a:solidFill>
            <a:srgbClr val="C86F52"/>
          </a:solidFill>
          <a:ln w="12700">
            <a:solidFill>
              <a:srgbClr val="C86F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" y="1325880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 quién le vende servicios Argentina? Concentración por socio y diferencias entre sectores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Argentina comparada con Brasil, Chile y Uruguay · 2015–2024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5394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Brenda Firmano · Diego Sebastián Díez de Los Ríos · Timothy Brandel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Ciencia de Datos para Economía y Negocios · FCE-UBA · 29 de octubre de 2026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OCDE-OMC, Balanced Trade in Services (BaTIS), edición BPM6, diciembre de 2025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DÓNDE VENIMOS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Instancia 1 describió cuánto y qué exporta cada país al mundo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3872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6F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+165%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Crecimiento nominal de Argentina 2005–2024 (5,3% anual): tercera de cuatro. Uruguay +430%, Brasil +228%. Con el balanceado queda cuarta (+161%).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508760"/>
            <a:ext cx="353872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1691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6F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−35,9%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6060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Caída de Argentina en 2020, la mayor de los cuatro, y la menor recuperación a 2024 contra 2019 (+15,7%; vecinos de +25,8% a +46,8%).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1584" y="1508760"/>
            <a:ext cx="353872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0184" y="1691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6F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 → 51%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6060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de los servicios de conocimiento en el total de Argentina entre 2005 y 2024.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69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guía: cómo evolucionaron el nivel y la composición de las exportaciones de servicios de Argentina 2005–2024 frente a Brasil, Chile y Uruguay. Unidad: país × año × categoría (1.040 filas = 4 países × 20 años × 13 categorías), exportaciones al mundo, valor final. Chile 2023–2024: estimaciones de OCDE-OMC.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669280"/>
            <a:ext cx="11091672" cy="68580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669280"/>
            <a:ext cx="73152" cy="68580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66928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faltaba lo propio de BaTIS: a quién le vende cada país. Eso es lo que agrega esta instancia.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DEVOLUCIÓN DE LA INSTANCIA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cambiamos a partir de la devolución (nota 7/10)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6702552"/>
                <a:gridCol w="822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Pidió el docente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Qué hicimos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Diap.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Aprovechar el comercio bilateral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Nueva base país × socio: 4 países × 202 socios × 13 ítems × 20 años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Concentración de socios por país y sector, con cualquier índice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CR1, CR4 y HHI por país, sector y año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 a 12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Índice de diversidad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Diversidad sectorial: sectores con ventaja comparativa revelada (RCA &gt; 1), como en la clase 12. Mide la canasta de sectores, no la de socios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ANOVA con todos los países para ver si los sectores difieren en el valor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ANOVA de log(valor) entre 12 sectores, sobre las 2.082 combinaciones país-sector con exportaciones positivas (de 2.400; 318 en cero), con robustez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 y 14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Otros cambios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7091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guía pasó a ser una hipótesis contrastable (diap. 4).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lo bilateral usamos el valor balanceado: concilia lo que declaran exportador e importador y es la medida que la metodología de BaTIS recomienda para los flujos entre pares. Para los totales al mundo sigue el valor final.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5715000"/>
            <a:ext cx="73152" cy="54864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715000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Incorporamos las tres sugerencias del docente. La diversidad que medimos es sectorial, no de socios.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 DE TRABAJO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hipótesis en tres partes, un método para cada una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234440"/>
          </a:xfrm>
          <a:prstGeom prst="rect">
            <a:avLst/>
          </a:prstGeom>
          <a:solidFill>
            <a:srgbClr val="28445A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“Entre 2015 y 2024, las exportaciones de servicios de Argentina se concentran en menos socios que las de Brasil, Chile y Uruguay, y tanto esa concentración como el valor exportado difieren según el sector.”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353872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C86F52"/>
          </a:solidFill>
          <a:ln w="12700">
            <a:solidFill>
              <a:srgbClr val="C86F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063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concentran en menos socios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CR1, CR4 y HHI del total de servicios, por país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663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Cuantitativo (Unidad 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5112" y="2926080"/>
            <a:ext cx="353872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3108960"/>
            <a:ext cx="457200" cy="457200"/>
          </a:xfrm>
          <a:prstGeom prst="ellipse">
            <a:avLst/>
          </a:prstGeom>
          <a:solidFill>
            <a:srgbClr val="C86F52"/>
          </a:solidFill>
          <a:ln w="12700">
            <a:solidFill>
              <a:srgbClr val="C86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5371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48072" y="3063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concentración difiere según el sector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mismos índices, abiertos por sector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4663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Cuantitativo (Unidad 3)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01584" y="2926080"/>
            <a:ext cx="353872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0184" y="3108960"/>
            <a:ext cx="457200" cy="457200"/>
          </a:xfrm>
          <a:prstGeom prst="ellipse">
            <a:avLst/>
          </a:prstGeom>
          <a:solidFill>
            <a:srgbClr val="C86F52"/>
          </a:solidFill>
          <a:ln w="12700">
            <a:solidFill>
              <a:srgbClr val="C86F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0184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924544" y="3063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exportado difiere según el sector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ANOVA de log(valor) entre 12 sectores, con robustez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30184" y="4663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Inferencia (Unidad 2)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440680"/>
            <a:ext cx="73152" cy="77724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44068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Período 2015–2024: es cuando Argentina declara a quién le vende (diap. 6). El análisis describe asociaciones, no causas.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BASES NUEVAS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bases para dos preguntas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315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4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batis_bilateral: ¿a quién le vende?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207.480 filas × 11 variables</a:t>
            </a:r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 cero duplicados.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Unidad: país informante × socio × sector × año.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países, 203 socios (202 economías + ROW, “resto del mundo”), 13 ítems (total + 12 sectores), 20 años.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Medida: </a:t>
            </a:r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balanceado (principal) y final (sensibilidad).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Uso: concentración por socio (diap. 9 a 12).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8776" y="1463040"/>
            <a:ext cx="54315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7376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4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batis_mundo_sectores: ¿cuánto exporta?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37376" y="201168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51.870 filas × 10 variables</a:t>
            </a:r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 combinaciones únicas.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Unidad: país × sector × año, socio = mundo.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 países, 13 ítems, 20 años.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Medida: </a:t>
            </a:r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final.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Uso: ANOVA entre sectores y diversidad sectorial (diap. 12 a 14).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Nulos: solo en Reported_value (95,18% en la bilateral; 18,44% en la base al mundo). Final_value y Balanced_value tienen 0 nulos. Ceros: Balanced_value bilateral 19.869; Final_value bilateral 53.707; Final_value al mundo 10.119.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91672" cy="68580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669280"/>
            <a:ext cx="73152" cy="68580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66928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nulos en las medidas porque OCDE-OMC completa lo que nadie informa: el faltante real está en el origen del dato y en los ceros.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FALTANTES (I)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declara a quién le vende?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0" cy="397764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del valor con socio estimado por OCDE-OMC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160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Argentina: </a:t>
            </a:r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en 2005–2014 (retroproyección, E8.2); desde 2015, como máximo 0,4%. Declara entre 141 y 167 socios por año.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Brasil: </a:t>
            </a:r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hasta 2009; en 2015–2024, entre 29,7% y 37,3%. Declara 37 socios.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Chile y Uruguay: </a:t>
            </a:r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todos los años.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4069080"/>
            <a:ext cx="4114800" cy="365760"/>
          </a:xfrm>
          <a:prstGeom prst="rect">
            <a:avLst/>
          </a:prstGeom>
          <a:solidFill>
            <a:srgbClr val="C86F52"/>
          </a:solidFill>
          <a:ln w="12700">
            <a:solidFill>
              <a:srgbClr val="C86F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Estrategia: período 2015–2024 y sin imputar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5262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conservan los estimados con la salvedad explícita: OCDE-OMC ya completó y repetirlo no agrega información.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9240" y="1463040"/>
            <a:ext cx="6291072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pic>
        <p:nvPicPr>
          <p:cNvPr id="11" name="Image 0" descr="output/graficos/06_g1_origen_bilat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951" y="1554480"/>
            <a:ext cx="5519651" cy="3794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5669280"/>
            <a:ext cx="11091672" cy="68580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5669280"/>
            <a:ext cx="73152" cy="68580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566928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Argentina y Brasil declaran a quién le venden. Por eso la medida principal es el balanceado: mide a los cuatro de la misma forma.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 Ponderado con el balanceado, sin ROW.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FALTANTES (II)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cero no siempre es “no exportó”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3872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6F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9,4% a 31,25%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Filas país-año sin valor informado, 2015–2024, según el sector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3154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Viajes, el mínimo; manufactura sobre insumos de terceros, el máximo (625 de 2.000).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base del ANOVA, el 17,8% de los años es estimado.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 el valor final, que completa lo no informado, y se informa cuánto pesa lo estimado.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3872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3712" y="1600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6F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318 de 2.400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Celdas país-sector en cero en la base al mundo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971800"/>
            <a:ext cx="3154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 informadas como cero los diez años y 101 mixtas.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nunca informadas y estimadas despreciables (E0); 127 nunca informadas y completadas con cero.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Quedan fuera del ANOVA sobre log(valor); entran en Kruskal-Wallis, Friedman y RCA.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Consecuencia: el ANOVA describe a los países que sí exportan (en manufactura quedan afuera 78).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463040"/>
            <a:ext cx="353872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0184" y="1600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6F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7.978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30184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Flujos bilaterales en cero, 2015–2024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2971800"/>
            <a:ext cx="3154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144 los declaró el país; 1.043 son E0 y el resto, ceros de otras estimaciones.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conservan: en el HHI pesan cero y no cambian ningún índice; tampoco cuentan como socios con ventas.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669280"/>
            <a:ext cx="11091672" cy="68580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669280"/>
            <a:ext cx="73152" cy="68580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66928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Chile nunca informa manufactura, mantenimiento, construcción ni gobierno: su posición en esos sectores no se interpreta.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ATÍPICOS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atípicos son genuinos y se conservan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7607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pic>
        <p:nvPicPr>
          <p:cNvPr id="5" name="Image 0" descr="output/graficos/06_g2_boxplot_sect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06" y="1554480"/>
            <a:ext cx="5317588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463040"/>
            <a:ext cx="5102352" cy="402336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19019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del boxplot (1,5 rangos intercuartiles) sobre el log del valor y dentro de cada sector: la distribución es muy asimétrica y cada sector tiene su escala.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2816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encontramos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315468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al mundo: 17 atípicos sobre 2.082 celdas con valor (16 bajos y 1 alto, EE.UU. en gobierno).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de los 16 bajos son series intermitentes, con años en cero; los otros 2 (Papúa Nueva Guinea en viajes, Tuvalu en gobierno) son valores chicos de economías chicas.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Bilateral 2024: 9 socios atípicos altos en 7 de 48 combinaciones país-sector. Un socio que compra mucho más es la concentración que queremos medir.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669280"/>
            <a:ext cx="11091672" cy="68580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669280"/>
            <a:ext cx="73152" cy="68580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566928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errores de carga. El log reduce su influencia en el ANOVA y el Kruskal-Wallis no depende de ellos (diap. 14).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 CUANTITATIVO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Concentración por socio: CR y HHI (clase 12)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754880" cy="3977640"/>
          </a:xfrm>
          <a:prstGeom prst="rect">
            <a:avLst/>
          </a:prstGeom>
          <a:solidFill>
            <a:srgbClr val="28445A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HHI = Σ (participación del socio, en %)²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4343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0 a 10.000: 10.000 = un solo comprador.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CR1: participación del primer socio. CR4: de los cuatro primeros.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Socios equivalentes asociados al HHI promedio 2015–2024 = 10.000 / HHI promedio: cuántos socios del mismo tamaño darían esa concentración.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32120" y="1463040"/>
            <a:ext cx="61081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Medida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1463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Balanceado como principal (mide igual a los cuatro); valor final como sensibilidad.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32120" y="2487168"/>
            <a:ext cx="61081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248716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excluido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48716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 residuo de socios no identificados; contarlo inventaría un comprador. Pesa como máximo 0,7%.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3511296"/>
            <a:ext cx="61081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351129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Cálculo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351129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Índices año por año y promedio 2015–2024.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32120" y="4535424"/>
            <a:ext cx="61081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4535424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453542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de servicios para comparar países; los 12 sectores para la segunda parte de la hipótesis.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91672" cy="68580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669280"/>
            <a:ext cx="73152" cy="68580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66928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Limitación: el CR4 mira solo los cuatro primeros socios y el HHI, a todos; pueden ordenar distinto, y el HHI depende de la medida.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TOTAL DE SERVICIOS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Argentina depende más que nadie de su primer comprador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pic>
        <p:nvPicPr>
          <p:cNvPr id="5" name="Image 0" descr="output/graficos/07_g1_hhi_to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719" y="1463040"/>
            <a:ext cx="4808483" cy="278892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371600"/>
          <a:ext cx="5742432" cy="914400"/>
        </p:xfrm>
        <a:graphic>
          <a:graphicData uri="http://schemas.openxmlformats.org/drawingml/2006/table">
            <a:tbl>
              <a:tblPr/>
              <a:tblGrid>
                <a:gridCol w="2267712"/>
                <a:gridCol w="868680"/>
                <a:gridCol w="868680"/>
                <a:gridCol w="868680"/>
                <a:gridCol w="868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Promedio 2015–2024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Argentina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Brasil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Uruguay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HHI balanceado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CR4 balanceado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42,3%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35,6%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50,1%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47,0%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CR1 balanceado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25,7%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22,3%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22,8%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15,9%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Socios equivalentes (10.000 / HHI prom.)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14,8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HHI final (sensibilidad)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1.196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913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CR4 final (sensibilidad)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51,9%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35,7%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45,4%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42,3%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526280"/>
            <a:ext cx="11091672" cy="178308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5994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explica la concentración de Argentina? Participación en el acumulado 2015–2024, balanceado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93776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6F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EE.UU. 25,5%</a:t>
            </a:r>
            <a:pPr indent="0" marL="0">
              <a:buNone/>
            </a:pPr>
            <a:r>
              <a:rPr lang="en-US" sz="14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Brasil 6,8%  ·  Chile 5,3%  ·  Uruguay 4,2%  ·  España 3,7%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socio de los vecinos: Brasil → EE.UU. 22,1%; Chile → EE.UU. 23,1%; Uruguay → Argentina 15,7%. HHI de Argentina: 859 en 2015, máximo de 1.006 en 2020 y 814 en 2024.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solo comprador: CR1 más alto de los cuatro, pero CR4 más bajo que Chile y Uruguay. El 25,7% de la tabla es el promedio de los porcentajes anuales; el 25,5% es la participación en el acumulado: son medidas distintas.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 El valor final de Chile y Uruguay por socio es un modelo.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PARTE DE LA HIPÓTESIS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¿Argentina está más concentrada que cada vecino?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Años 2015–2024 en que Argentina está más concentrada que el vecino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400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Vecino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HHI balanceado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CR4 balanceado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HHI final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CR4 final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Brasil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B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Uruguay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B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Chile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de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BD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Medida principal: balanceado. Con el valor final, los socios de Chile y Uruguay salen de un modelo de gravedad.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78040" y="1371600"/>
            <a:ext cx="4462272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06640" y="1554480"/>
            <a:ext cx="40690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Brasil: </a:t>
            </a:r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cumple con las dos medidas y los dos índices.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Uruguay: </a:t>
            </a:r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cumple con el HHI, no con el CR4 balanceado. Reparte casi la mitad entre cuatro socios de tamaño parecido (CR4 47,0%).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Chile: </a:t>
            </a:r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el balanceado, no se cumple con ningún índice. En el HHI empatan en años (5 de 10; Chile arriba en 2019 y 2021–2024) y Chile queda algo arriba en promedio (897 contra 878); en el CR4, Chile está más concentrado los 10 años.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669280"/>
            <a:ext cx="11091672" cy="68580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5669280"/>
            <a:ext cx="73152" cy="68580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566928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a Brasil se cumple; frente a Chile y Uruguay, depende de la medida y del índice. Lo reportamos como sale, sin ajustar la hipótesis.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 Chile 2023–2024: estimaciones de OCDE-OMC.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SEGUNDA PARTE DE LA HIPÓTESIS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concentración difiere según el sector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pic>
        <p:nvPicPr>
          <p:cNvPr id="5" name="Image 0" descr="output/graficos/07_g2_socios_equivalentes_sect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206" y="1463040"/>
            <a:ext cx="4885509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371600"/>
            <a:ext cx="574243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508760"/>
            <a:ext cx="5349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Argentina, balanceado: </a:t>
            </a:r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2,0 socios equivalentes en personales y culturales (EE.UU. 67,1%) a 18,9 en transporte.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Concentrados también: manufactura 4,0 (se lee con cautela: 98% estimado), financieros 4,4 y propiedad intelectual 4,5.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los cuatro países, el sector que más reparte tiene entre 3,6 y 9,3 veces los socios equivalentes del más concentrado (con el final, 3,0 a 7,9).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97880" y="4114800"/>
            <a:ext cx="5742432" cy="146304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0" y="41879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Diversidad sectorial (sectores con RCA &gt; 1)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452628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Argentina 5 de 12, más que el 82,8% de 199 economías; Brasil 4, Chile 3, Uruguay 3. Mide la canasta de sectores, no la diversidad de socios: no responde la primera parte.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715000"/>
            <a:ext cx="11091672" cy="64008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715000"/>
            <a:ext cx="73152" cy="64008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57150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cumple con las dos medidas. “Argentina es la que más varía entre sectores” vale solo con el balanceado; con el final, Brasil varía más.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 *: más de la mitad del valor con socios estimados.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 DE INFERENCIA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ANOVA entre sectores: pregunta, muestra y supuestos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4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valor que exporta un país típico difiere entre los 12 sectores?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5074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Muestra: </a:t>
            </a:r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2.082 combinaciones país-sector con exportaciones positivas (de 2.400; 318 en cero). Promedio 2015–2024 del valor final, una observación por país y sector.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Variable: </a:t>
            </a:r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log(valor): se comparan medias geométricas, el valor de un “país típico”.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H0: </a:t>
            </a:r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media de log(valor) es igual en los 12 sectores. H1: al menos uno difiere.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Supuestos: </a:t>
            </a:r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Shapiro-Wilk W = 0,99 (p &lt; 0,001; con n = 2.082 rechaza cualquier desvío chico). Levene F = 13,89 (11 y 2.070 gl), p &lt; 0,001; cociente de desvíos 1,90 (&lt; 2).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fijado antes: </a:t>
            </a:r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Levene rechaza, Welch y Games-Howell. Además, Kruskal-Wallis y, por la independencia, país como bloque y Friedman.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7667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pic>
        <p:nvPicPr>
          <p:cNvPr id="8" name="Image 0" descr="output/graficos/08_g2_qq_residu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504188"/>
            <a:ext cx="5193792" cy="38953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5715000"/>
            <a:ext cx="11091672" cy="64008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5715000"/>
            <a:ext cx="73152" cy="64008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57150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residuos siguen a la normal en el centro y se apartan en las colas: por eso se contrasta con métodos que no la suponen.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DEL ANOVA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exportado difiere según el sector, con todos los métodos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pic>
        <p:nvPicPr>
          <p:cNvPr id="5" name="Image 0" descr="output/graficos/08_g1_medias_sect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3614"/>
            <a:ext cx="5212080" cy="338785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71600"/>
          <a:ext cx="546811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188720"/>
                <a:gridCol w="914400"/>
                <a:gridCol w="731520"/>
                <a:gridCol w="9418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Estadístico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Efecto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ANOVA de un factor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 = 38,87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 y 2.070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0,001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eta² = 0,17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ANOVA de Welch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 = 43,82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 y 790,6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0,001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Kruskal-Wallis con ceros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513,84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0,001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eps² = 0,21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Kruskal-Wallis sin ceros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348,48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0,001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eps² = 0,17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País como bloque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 = 154,32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 y 1.872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0,001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eta² = 0,20*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Friedman (con ceros)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chi² = 1.220,84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0,001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 = 0,55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172200" y="3749040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Sobre la SC total, comparable con el 0,17. Games-Howell: 41 de 66 pares difieren al 5% (Tukey: 42).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172200" y="4069080"/>
            <a:ext cx="5468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Limitaciones. </a:t>
            </a:r>
            <a:pPr indent="0" marL="0">
              <a:buNone/>
            </a:pPr>
            <a:r>
              <a:rPr lang="en-US" sz="105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ANOVA simple no modela la dependencia entre las observaciones de un mismo país. Como control, agregamos el país como bloque y el test de Friedman; en estos datos, la F sube de 38,9 a 154,3 al descontar el país. El modelo con bloque es aditivo (con una observación por país y sector no se estima la interacción) y sus residuos cumplen peor los supuestos (Shapiro W = 0,96; cociente de desvíos 3,01): por eso se suma el Friedman.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Medias geométricas: viajes 919,6 M USD por año; propiedad intelectual 9,8.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5440680"/>
            <a:ext cx="73152" cy="777240"/>
          </a:xfrm>
          <a:prstGeom prst="rect">
            <a:avLst/>
          </a:prstGeom>
          <a:solidFill>
            <a:srgbClr val="2F7D7A"/>
          </a:solidFill>
          <a:ln w="12700">
            <a:solidFill>
              <a:srgbClr val="2F7D7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44068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rechaza H0: el sector explica el 17% de la variabilidad del log del valor. En un país típico, viajes genera unas 94 veces lo que propiedad intelectual.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 Sin deflactar. Asociación, no causa.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Sectores: se cumple. Socios: depende de la medida y del índice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513832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Parte de la hipótesis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Resultado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Método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Argentina se concentra en menos socios que sus vecinos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Frente a Brasil se cumple con las dos medidas y los dos índices; frente a Chile y Uruguay, depende de la medida y del índice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 y HHI (cuantitativo)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 concentración difiere según el sector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 cumple con las dos medidas (Argentina, de 2,0 a 18,9 socios equivalentes)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 y HHI por sector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 valor exportado difiere según el sector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 cumple con todos los métodos (F = 38,9; eta² = 0,17)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ANOVA y robustez (inferencia)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86200"/>
            <a:ext cx="53949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977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relacionan los dos métodos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343400"/>
            <a:ext cx="4983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complementarios: el ANOVA muestra que los sectores difieren en cuánto exporta un país típico; la concentración, en a cuántos socios les venden. No se puede afirmar que los sectores más chicos sean los más concentrados: en Argentina, transporte y viajes reparten mucho y mantenimiento, siendo chico, también.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3886200"/>
            <a:ext cx="5468112" cy="2423160"/>
          </a:xfrm>
          <a:prstGeom prst="rect">
            <a:avLst/>
          </a:prstGeom>
          <a:solidFill>
            <a:srgbClr val="E9EEF0"/>
          </a:solidFill>
          <a:ln w="9525">
            <a:solidFill>
              <a:srgbClr val="D4DB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Próximos pasos (entrega final)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4343400"/>
            <a:ext cx="5074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Relacionar la concentración con el tamaño del sector.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pareado de crecimiento entre países (pendiente de la Instancia 1).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ANOVA en valores reales o relativos al tamaño de cada país.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el resultado frente a Chile sin 2023–2024 (estimados).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Salvedades: millones de USD corrientes, sin deflactar; Chile y Uruguay con distribución por socio 100% estimada por OCDE-OMC; descriptivo, no causal.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ANEXO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Comparaciones de a pares y principales socios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0350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DE"/>
            </a:solidFill>
            <a:prstDash val="solid"/>
          </a:ln>
        </p:spPr>
      </p:sp>
      <p:pic>
        <p:nvPicPr>
          <p:cNvPr id="5" name="Image 0" descr="output/graficos/08_g3_pares_sect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974" y="1463040"/>
            <a:ext cx="5798372" cy="448056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371600"/>
          <a:ext cx="4828032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1371600"/>
                <a:gridCol w="109728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País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1.º socio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2.º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3.º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4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Argentina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EE.UU. 25,5%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Brasil 6,8%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Chile 5,3%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Brasil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EE.UU. 22,1%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 4,8%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Países Bajos 3,8%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EE.UU. 23,1%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 10,6%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Argentina 8,1%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Uruguay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Argentina 15,7%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EE.UU. 12,8%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 10,0%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0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12280" y="3611880"/>
            <a:ext cx="4828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en el acumulado 2015–2024, valor balanceado (07_principales_socios). Games-Howell: 41 de 66 pares difieren al 5%. Sensibilidad de Brasil, 2010–2014 contra 2015–2024: HHI 781 → 649 (balanceado) y 882 → 787 (final).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elaboración propia con datos de OECD-WTO BaTIS (BPM6, versión dic. 2025). Millones de USD corrientes.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5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Instancia 2: métodos · Exportaciones de servicios BaTIS</dc:title>
  <dc:subject>PptxGenJS Presentation</dc:subject>
  <dc:creator>Brenda Firmano, Diego Sebastián Díez de Los Ríos, Timothy Brandel</dc:creator>
  <cp:lastModifiedBy>Brenda Firmano, Diego Sebastián Díez de Los Ríos, Timothy Brandel</cp:lastModifiedBy>
  <cp:revision>1</cp:revision>
  <dcterms:created xsi:type="dcterms:W3CDTF">2026-10-29T00:13:06Z</dcterms:created>
  <dcterms:modified xsi:type="dcterms:W3CDTF">2026-10-29T00:13:06Z</dcterms:modified>
</cp:coreProperties>
</file>