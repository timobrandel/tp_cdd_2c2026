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585534-DDE0-DA90-2662-7E9241C8D6BC}" v="20" dt="2026-09-21T20:00:48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3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Argentina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5870.21</c:v>
                </c:pt>
                <c:pt idx="1">
                  <c:v>7068.18</c:v>
                </c:pt>
                <c:pt idx="2">
                  <c:v>8720.6299999999992</c:v>
                </c:pt>
                <c:pt idx="3">
                  <c:v>10274.209999999999</c:v>
                </c:pt>
                <c:pt idx="4">
                  <c:v>9365.89</c:v>
                </c:pt>
                <c:pt idx="5">
                  <c:v>10442.200000000001</c:v>
                </c:pt>
                <c:pt idx="6">
                  <c:v>11836.91</c:v>
                </c:pt>
                <c:pt idx="7">
                  <c:v>12050.55</c:v>
                </c:pt>
                <c:pt idx="8">
                  <c:v>11729.55</c:v>
                </c:pt>
                <c:pt idx="9">
                  <c:v>11363.85</c:v>
                </c:pt>
                <c:pt idx="10">
                  <c:v>11703.03</c:v>
                </c:pt>
                <c:pt idx="11">
                  <c:v>11970.17</c:v>
                </c:pt>
                <c:pt idx="12">
                  <c:v>13379.43</c:v>
                </c:pt>
                <c:pt idx="13">
                  <c:v>13337.1</c:v>
                </c:pt>
                <c:pt idx="14">
                  <c:v>13117.14</c:v>
                </c:pt>
                <c:pt idx="15">
                  <c:v>8942.91</c:v>
                </c:pt>
                <c:pt idx="16">
                  <c:v>9322.9500000000007</c:v>
                </c:pt>
                <c:pt idx="17">
                  <c:v>13111.66</c:v>
                </c:pt>
                <c:pt idx="18">
                  <c:v>14653.64</c:v>
                </c:pt>
                <c:pt idx="19">
                  <c:v>15314.45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8C-4248-9E01-70E8F1853A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 cap="flat">
              <a:solidFill>
                <a:srgbClr val="2F6F4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6F4E"/>
              </a:solidFill>
              <a:ln w="9525" cap="flat">
                <a:solidFill>
                  <a:srgbClr val="2F6F4E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14428.68</c:v>
                </c:pt>
                <c:pt idx="1">
                  <c:v>17988.78</c:v>
                </c:pt>
                <c:pt idx="2">
                  <c:v>21680.69</c:v>
                </c:pt>
                <c:pt idx="3">
                  <c:v>28060.43</c:v>
                </c:pt>
                <c:pt idx="4">
                  <c:v>25651.73</c:v>
                </c:pt>
                <c:pt idx="5">
                  <c:v>28934.23</c:v>
                </c:pt>
                <c:pt idx="6">
                  <c:v>34711.17</c:v>
                </c:pt>
                <c:pt idx="7">
                  <c:v>35974.82</c:v>
                </c:pt>
                <c:pt idx="8">
                  <c:v>35841.160000000003</c:v>
                </c:pt>
                <c:pt idx="9">
                  <c:v>38693.74</c:v>
                </c:pt>
                <c:pt idx="10">
                  <c:v>35517.64</c:v>
                </c:pt>
                <c:pt idx="11">
                  <c:v>34446.03</c:v>
                </c:pt>
                <c:pt idx="12">
                  <c:v>34891.67</c:v>
                </c:pt>
                <c:pt idx="13">
                  <c:v>35403.9</c:v>
                </c:pt>
                <c:pt idx="14">
                  <c:v>34261.57</c:v>
                </c:pt>
                <c:pt idx="15">
                  <c:v>26552.43</c:v>
                </c:pt>
                <c:pt idx="16">
                  <c:v>30563.200000000001</c:v>
                </c:pt>
                <c:pt idx="17">
                  <c:v>39186</c:v>
                </c:pt>
                <c:pt idx="18">
                  <c:v>43204.800000000003</c:v>
                </c:pt>
                <c:pt idx="19">
                  <c:v>45797.89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8C-4248-9E01-70E8F1853A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Chile</c:v>
                </c:pt>
              </c:strCache>
            </c:strRef>
          </c:tx>
          <c:spPr>
            <a:ln w="31750" cap="flat">
              <a:solidFill>
                <a:srgbClr val="8C3B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C3B3B"/>
              </a:solidFill>
              <a:ln w="9525" cap="flat">
                <a:solidFill>
                  <a:srgbClr val="8C3B3B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6280.02</c:v>
                </c:pt>
                <c:pt idx="1">
                  <c:v>7293.84</c:v>
                </c:pt>
                <c:pt idx="2">
                  <c:v>8602.34</c:v>
                </c:pt>
                <c:pt idx="3">
                  <c:v>10155.32</c:v>
                </c:pt>
                <c:pt idx="4">
                  <c:v>8739.39</c:v>
                </c:pt>
                <c:pt idx="5">
                  <c:v>10262.26</c:v>
                </c:pt>
                <c:pt idx="6">
                  <c:v>11718.98</c:v>
                </c:pt>
                <c:pt idx="7">
                  <c:v>11793.34</c:v>
                </c:pt>
                <c:pt idx="8">
                  <c:v>11647.68</c:v>
                </c:pt>
                <c:pt idx="9">
                  <c:v>11579.46</c:v>
                </c:pt>
                <c:pt idx="10">
                  <c:v>11019.7</c:v>
                </c:pt>
                <c:pt idx="11">
                  <c:v>11349.21</c:v>
                </c:pt>
                <c:pt idx="12">
                  <c:v>12633.6</c:v>
                </c:pt>
                <c:pt idx="13">
                  <c:v>12726.26</c:v>
                </c:pt>
                <c:pt idx="14">
                  <c:v>12453.44</c:v>
                </c:pt>
                <c:pt idx="15">
                  <c:v>8183.9</c:v>
                </c:pt>
                <c:pt idx="16">
                  <c:v>9396.73</c:v>
                </c:pt>
                <c:pt idx="17">
                  <c:v>12761.29</c:v>
                </c:pt>
                <c:pt idx="18">
                  <c:v>15627.35</c:v>
                </c:pt>
                <c:pt idx="19">
                  <c:v>17587.36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8C-4248-9E01-70E8F1853A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Uruguay</c:v>
                </c:pt>
              </c:strCache>
            </c:strRef>
          </c:tx>
          <c:spPr>
            <a:ln w="31750" cap="flat">
              <a:solidFill>
                <a:srgbClr val="3A5A7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A5A78"/>
              </a:solidFill>
              <a:ln w="9525" cap="flat">
                <a:solidFill>
                  <a:srgbClr val="3A5A78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1722.2</c:v>
                </c:pt>
                <c:pt idx="1">
                  <c:v>2002.94</c:v>
                </c:pt>
                <c:pt idx="2">
                  <c:v>2473.5500000000002</c:v>
                </c:pt>
                <c:pt idx="3">
                  <c:v>3030.9</c:v>
                </c:pt>
                <c:pt idx="4">
                  <c:v>2952.66</c:v>
                </c:pt>
                <c:pt idx="5">
                  <c:v>3445.69</c:v>
                </c:pt>
                <c:pt idx="6">
                  <c:v>4223.79</c:v>
                </c:pt>
                <c:pt idx="7">
                  <c:v>4910.63</c:v>
                </c:pt>
                <c:pt idx="8">
                  <c:v>4812.87</c:v>
                </c:pt>
                <c:pt idx="9">
                  <c:v>4796.75</c:v>
                </c:pt>
                <c:pt idx="10">
                  <c:v>4828.3500000000004</c:v>
                </c:pt>
                <c:pt idx="11">
                  <c:v>4569.13</c:v>
                </c:pt>
                <c:pt idx="12">
                  <c:v>5014.92</c:v>
                </c:pt>
                <c:pt idx="13">
                  <c:v>5032.67</c:v>
                </c:pt>
                <c:pt idx="14">
                  <c:v>4689.7299999999996</c:v>
                </c:pt>
                <c:pt idx="15">
                  <c:v>3672.8</c:v>
                </c:pt>
                <c:pt idx="16">
                  <c:v>3739.56</c:v>
                </c:pt>
                <c:pt idx="17">
                  <c:v>5660.86</c:v>
                </c:pt>
                <c:pt idx="18">
                  <c:v>6424.31</c:v>
                </c:pt>
                <c:pt idx="19">
                  <c:v>6557.33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B8C-4248-9E01-70E8F1853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B82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B82"/>
                    </a:solidFill>
                    <a:latin typeface="Arial"/>
                  </a:rPr>
                  <a:t>Millones de USD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32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91-409B-9691-96B733DC7F13}"/>
              </c:ext>
            </c:extLst>
          </c:dPt>
          <c:dPt>
            <c:idx val="1"/>
            <c:invertIfNegative val="0"/>
            <c:bubble3D val="0"/>
            <c:spPr>
              <a:solidFill>
                <a:srgbClr val="2F6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91-409B-9691-96B733DC7F13}"/>
              </c:ext>
            </c:extLst>
          </c:dPt>
          <c:dPt>
            <c:idx val="2"/>
            <c:invertIfNegative val="0"/>
            <c:bubble3D val="0"/>
            <c:spPr>
              <a:solidFill>
                <a:srgbClr val="8C3B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91-409B-9691-96B733DC7F13}"/>
              </c:ext>
            </c:extLst>
          </c:dPt>
          <c:dPt>
            <c:idx val="3"/>
            <c:invertIfNegative val="0"/>
            <c:bubble3D val="0"/>
            <c:spPr>
              <a:solidFill>
                <a:srgbClr val="3A5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91-409B-9691-96B733DC7F13}"/>
              </c:ext>
            </c:extLst>
          </c:dPt>
          <c:dLbls>
            <c:numFmt formatCode="&quot;+&quot;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33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Argentina</c:v>
                </c:pt>
                <c:pt idx="1">
                  <c:v>Brasil</c:v>
                </c:pt>
                <c:pt idx="2">
                  <c:v>Chile</c:v>
                </c:pt>
                <c:pt idx="3">
                  <c:v>Uruguay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161</c:v>
                </c:pt>
                <c:pt idx="1">
                  <c:v>217</c:v>
                </c:pt>
                <c:pt idx="2">
                  <c:v>180</c:v>
                </c:pt>
                <c:pt idx="3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C91-409B-9691-96B733DC7F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Argentina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Transporte</c:v>
                </c:pt>
                <c:pt idx="1">
                  <c:v>Viajes</c:v>
                </c:pt>
                <c:pt idx="2">
                  <c:v>Inform. y telecom.</c:v>
                </c:pt>
                <c:pt idx="3">
                  <c:v>Otros serv. empresariales</c:v>
                </c:pt>
                <c:pt idx="4">
                  <c:v>Financieros</c:v>
                </c:pt>
                <c:pt idx="5">
                  <c:v>Gobierno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16.899999999999999</c:v>
                </c:pt>
                <c:pt idx="1">
                  <c:v>33.6</c:v>
                </c:pt>
                <c:pt idx="2">
                  <c:v>10</c:v>
                </c:pt>
                <c:pt idx="3">
                  <c:v>26.5</c:v>
                </c:pt>
                <c:pt idx="4">
                  <c:v>3</c:v>
                </c:pt>
                <c:pt idx="5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E-4FFD-9EE8-2E25ACB08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2F6F4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Transporte</c:v>
                </c:pt>
                <c:pt idx="1">
                  <c:v>Viajes</c:v>
                </c:pt>
                <c:pt idx="2">
                  <c:v>Inform. y telecom.</c:v>
                </c:pt>
                <c:pt idx="3">
                  <c:v>Otros serv. empresariales</c:v>
                </c:pt>
                <c:pt idx="4">
                  <c:v>Financieros</c:v>
                </c:pt>
                <c:pt idx="5">
                  <c:v>Gobierno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26.9</c:v>
                </c:pt>
                <c:pt idx="1">
                  <c:v>17.3</c:v>
                </c:pt>
                <c:pt idx="2">
                  <c:v>8.8000000000000007</c:v>
                </c:pt>
                <c:pt idx="3">
                  <c:v>29.9</c:v>
                </c:pt>
                <c:pt idx="4">
                  <c:v>4.7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EE-4FFD-9EE8-2E25ACB08F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8C3B3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Transporte</c:v>
                </c:pt>
                <c:pt idx="1">
                  <c:v>Viajes</c:v>
                </c:pt>
                <c:pt idx="2">
                  <c:v>Inform. y telecom.</c:v>
                </c:pt>
                <c:pt idx="3">
                  <c:v>Otros serv. empresariales</c:v>
                </c:pt>
                <c:pt idx="4">
                  <c:v>Financieros</c:v>
                </c:pt>
                <c:pt idx="5">
                  <c:v>Gobierno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42.6</c:v>
                </c:pt>
                <c:pt idx="1">
                  <c:v>27.2</c:v>
                </c:pt>
                <c:pt idx="2">
                  <c:v>4.4000000000000004</c:v>
                </c:pt>
                <c:pt idx="3">
                  <c:v>17.100000000000001</c:v>
                </c:pt>
                <c:pt idx="4">
                  <c:v>2.4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EE-4FFD-9EE8-2E25ACB08F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Uruguay</c:v>
                </c:pt>
              </c:strCache>
            </c:strRef>
          </c:tx>
          <c:spPr>
            <a:solidFill>
              <a:srgbClr val="3A5A7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Transporte</c:v>
                </c:pt>
                <c:pt idx="1">
                  <c:v>Viajes</c:v>
                </c:pt>
                <c:pt idx="2">
                  <c:v>Inform. y telecom.</c:v>
                </c:pt>
                <c:pt idx="3">
                  <c:v>Otros serv. empresariales</c:v>
                </c:pt>
                <c:pt idx="4">
                  <c:v>Financieros</c:v>
                </c:pt>
                <c:pt idx="5">
                  <c:v>Gobierno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17.2</c:v>
                </c:pt>
                <c:pt idx="1">
                  <c:v>41.5</c:v>
                </c:pt>
                <c:pt idx="2">
                  <c:v>13</c:v>
                </c:pt>
                <c:pt idx="3">
                  <c:v>17.399999999999999</c:v>
                </c:pt>
                <c:pt idx="4">
                  <c:v>2.9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5EE-4FFD-9EE8-2E25ACB08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32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rgbClr val="A9B4B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Manuf.</c:v>
                </c:pt>
                <c:pt idx="1">
                  <c:v>Manten.</c:v>
                </c:pt>
                <c:pt idx="2">
                  <c:v>Transp.</c:v>
                </c:pt>
                <c:pt idx="3">
                  <c:v>Viajes</c:v>
                </c:pt>
                <c:pt idx="4">
                  <c:v>Constr.</c:v>
                </c:pt>
                <c:pt idx="5">
                  <c:v>Seguros</c:v>
                </c:pt>
                <c:pt idx="6">
                  <c:v>Financ.</c:v>
                </c:pt>
                <c:pt idx="7">
                  <c:v>Regalías</c:v>
                </c:pt>
                <c:pt idx="8">
                  <c:v>IT/Info</c:v>
                </c:pt>
                <c:pt idx="9">
                  <c:v>Otros emp.</c:v>
                </c:pt>
                <c:pt idx="10">
                  <c:v>Personal</c:v>
                </c:pt>
                <c:pt idx="11">
                  <c:v>Gobierno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</c:v>
                </c:pt>
                <c:pt idx="1">
                  <c:v>0.2</c:v>
                </c:pt>
                <c:pt idx="2">
                  <c:v>22.7</c:v>
                </c:pt>
                <c:pt idx="3">
                  <c:v>42.8</c:v>
                </c:pt>
                <c:pt idx="4">
                  <c:v>0.9</c:v>
                </c:pt>
                <c:pt idx="5">
                  <c:v>1.6</c:v>
                </c:pt>
                <c:pt idx="6">
                  <c:v>1.3</c:v>
                </c:pt>
                <c:pt idx="7">
                  <c:v>1.4</c:v>
                </c:pt>
                <c:pt idx="8">
                  <c:v>4.9000000000000004</c:v>
                </c:pt>
                <c:pt idx="9">
                  <c:v>18.8</c:v>
                </c:pt>
                <c:pt idx="10">
                  <c:v>3.4</c:v>
                </c:pt>
                <c:pt idx="11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32-4CDE-850A-FBB34D69EB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Manuf.</c:v>
                </c:pt>
                <c:pt idx="1">
                  <c:v>Manten.</c:v>
                </c:pt>
                <c:pt idx="2">
                  <c:v>Transp.</c:v>
                </c:pt>
                <c:pt idx="3">
                  <c:v>Viajes</c:v>
                </c:pt>
                <c:pt idx="4">
                  <c:v>Constr.</c:v>
                </c:pt>
                <c:pt idx="5">
                  <c:v>Seguros</c:v>
                </c:pt>
                <c:pt idx="6">
                  <c:v>Financ.</c:v>
                </c:pt>
                <c:pt idx="7">
                  <c:v>Regalías</c:v>
                </c:pt>
                <c:pt idx="8">
                  <c:v>IT/Info</c:v>
                </c:pt>
                <c:pt idx="9">
                  <c:v>Otros emp.</c:v>
                </c:pt>
                <c:pt idx="10">
                  <c:v>Personal</c:v>
                </c:pt>
                <c:pt idx="11">
                  <c:v>Gobierno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</c:v>
                </c:pt>
                <c:pt idx="1">
                  <c:v>0.8</c:v>
                </c:pt>
                <c:pt idx="2">
                  <c:v>16.899999999999999</c:v>
                </c:pt>
                <c:pt idx="3">
                  <c:v>33.6</c:v>
                </c:pt>
                <c:pt idx="4">
                  <c:v>0.2</c:v>
                </c:pt>
                <c:pt idx="5">
                  <c:v>1.1000000000000001</c:v>
                </c:pt>
                <c:pt idx="6">
                  <c:v>3</c:v>
                </c:pt>
                <c:pt idx="7">
                  <c:v>2.1</c:v>
                </c:pt>
                <c:pt idx="8">
                  <c:v>10</c:v>
                </c:pt>
                <c:pt idx="9">
                  <c:v>26.5</c:v>
                </c:pt>
                <c:pt idx="10">
                  <c:v>3.7</c:v>
                </c:pt>
                <c:pt idx="1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32-4CDE-850A-FBB34D69E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3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32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Caída 2020 vs. 2019</c:v>
                </c:pt>
              </c:strCache>
            </c:strRef>
          </c:tx>
          <c:spPr>
            <a:solidFill>
              <a:srgbClr val="8C3B3B"/>
            </a:solidFill>
            <a:effectLst/>
          </c:spPr>
          <c:invertIfNegative val="0"/>
          <c:dLbls>
            <c:numFmt formatCode="&quot;+&quot;0.0&quot;%&quot;;&quot;-&quot;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3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Argentina</c:v>
                </c:pt>
                <c:pt idx="1">
                  <c:v>Brasil</c:v>
                </c:pt>
                <c:pt idx="2">
                  <c:v>Chile</c:v>
                </c:pt>
                <c:pt idx="3">
                  <c:v>Uruguay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-31.8</c:v>
                </c:pt>
                <c:pt idx="1">
                  <c:v>-22.5</c:v>
                </c:pt>
                <c:pt idx="2">
                  <c:v>-34.299999999999997</c:v>
                </c:pt>
                <c:pt idx="3">
                  <c:v>-21.7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4-41D4-B6AF-5BDB90B887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Recuperación 2024 vs. 2020</c:v>
                </c:pt>
              </c:strCache>
            </c:strRef>
          </c:tx>
          <c:spPr>
            <a:solidFill>
              <a:srgbClr val="2F6F4E"/>
            </a:solidFill>
            <a:effectLst/>
          </c:spPr>
          <c:invertIfNegative val="0"/>
          <c:dLbls>
            <c:numFmt formatCode="&quot;+&quot;0.0&quot;%&quot;;&quot;-&quot;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3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Argentina</c:v>
                </c:pt>
                <c:pt idx="1">
                  <c:v>Brasil</c:v>
                </c:pt>
                <c:pt idx="2">
                  <c:v>Chile</c:v>
                </c:pt>
                <c:pt idx="3">
                  <c:v>Uruguay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71.3</c:v>
                </c:pt>
                <c:pt idx="1">
                  <c:v>72.5</c:v>
                </c:pt>
                <c:pt idx="2">
                  <c:v>114.9</c:v>
                </c:pt>
                <c:pt idx="3">
                  <c:v>78.5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64-41D4-B6AF-5BDB90B887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32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801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46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F46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DE CIENCIA DE DATOS  ·  PRIMERA ENTREGA: ANÁLISIS EXPLORATORIO DE DATOS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y composición de las exportaciones de servicios</a:t>
            </a:r>
            <a:endParaRPr lang="en-US" sz="400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en comparación con Brasil, Chile y Uruguay · 2005–2024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202436" cy="411480"/>
          </a:xfrm>
          <a:prstGeom prst="roundRect">
            <a:avLst>
              <a:gd name="adj" fmla="val 17778"/>
            </a:avLst>
          </a:prstGeom>
          <a:solidFill>
            <a:srgbClr val="1F4657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950976" y="41788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097280" y="3977640"/>
            <a:ext cx="9281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2226564" y="3977640"/>
            <a:ext cx="886968" cy="411480"/>
          </a:xfrm>
          <a:prstGeom prst="roundRect">
            <a:avLst>
              <a:gd name="adj" fmla="val 17778"/>
            </a:avLst>
          </a:prstGeom>
          <a:solidFill>
            <a:srgbClr val="1F4657"/>
          </a:solidFill>
          <a:ln w="15875">
            <a:solidFill>
              <a:srgbClr val="2F6F4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354580" y="4178808"/>
            <a:ext cx="91440" cy="91440"/>
          </a:xfrm>
          <a:prstGeom prst="ellipse">
            <a:avLst/>
          </a:prstGeom>
          <a:solidFill>
            <a:srgbClr val="2F6F4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2500884" y="3977640"/>
            <a:ext cx="61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3314700" y="3977640"/>
            <a:ext cx="781812" cy="411480"/>
          </a:xfrm>
          <a:prstGeom prst="roundRect">
            <a:avLst>
              <a:gd name="adj" fmla="val 17778"/>
            </a:avLst>
          </a:prstGeom>
          <a:solidFill>
            <a:srgbClr val="1F4657"/>
          </a:solidFill>
          <a:ln w="15875">
            <a:solidFill>
              <a:srgbClr val="8C3B3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3442716" y="4178808"/>
            <a:ext cx="91440" cy="91440"/>
          </a:xfrm>
          <a:prstGeom prst="ellipse">
            <a:avLst/>
          </a:prstGeom>
          <a:solidFill>
            <a:srgbClr val="8C3B3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3589020" y="3977640"/>
            <a:ext cx="5074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4297680" y="3977640"/>
            <a:ext cx="992124" cy="411480"/>
          </a:xfrm>
          <a:prstGeom prst="roundRect">
            <a:avLst>
              <a:gd name="adj" fmla="val 17778"/>
            </a:avLst>
          </a:prstGeom>
          <a:solidFill>
            <a:srgbClr val="1F4657"/>
          </a:solidFill>
          <a:ln w="15875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4425696" y="4178808"/>
            <a:ext cx="91440" cy="91440"/>
          </a:xfrm>
          <a:prstGeom prst="ellipse">
            <a:avLst/>
          </a:prstGeom>
          <a:solidFill>
            <a:srgbClr val="3A5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4572000" y="3977640"/>
            <a:ext cx="71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</a:t>
            </a:r>
            <a:endParaRPr lang="en-US" sz="1250"/>
          </a:p>
        </p:txBody>
      </p:sp>
      <p:sp>
        <p:nvSpPr>
          <p:cNvPr id="20" name="Text 18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datos: OCDE-OMC, Balanced Trade in Services (BaTiS), edición BPM6 — diciembre de 2025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PRESENTACIÓN DE LA BASE DE DATOS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BaTiS y qué representa cada observación?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21792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OCDE-OMC Balanced Trade in Services (BaTiS) — edición BPM6, diciembre 2025</a:t>
            </a:r>
            <a:endParaRPr lang="en-US" sz="125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3657600" y="240487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Elaborada conjuntamente por la OCDE y la OMC, a partir de estadísticas oficiales de balanza de pagos de cada país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11064240" cy="621792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77240" y="302666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 que representa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3657600" y="3026664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de servicios entre economías del mundo, desagregado por categoría de servicio (clasificación EBOPS 2010)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777240" y="364845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observación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3657600" y="3648456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exportador × categoría de servicio × año (exportaciones dirigidas al mundo, WL)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11064240" cy="621792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777240" y="427024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cubierto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3657600" y="427024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2024 (20 años)</a:t>
            </a:r>
            <a:endParaRPr lang="en-US" sz="1250"/>
          </a:p>
        </p:txBody>
      </p:sp>
      <p:sp>
        <p:nvSpPr>
          <p:cNvPr id="17" name="Text 15"/>
          <p:cNvSpPr txBox="1"/>
          <p:nvPr/>
        </p:nvSpPr>
        <p:spPr>
          <a:xfrm>
            <a:off x="777240" y="48920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utilizadas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3657600" y="489204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1.040 (4 países × 13 categorías de servicio × 20 años)</a:t>
            </a:r>
            <a:endParaRPr lang="en-US" sz="1250"/>
          </a:p>
        </p:txBody>
      </p:sp>
      <p:sp>
        <p:nvSpPr>
          <p:cNvPr id="19" name="Text 17"/>
          <p:cNvSpPr txBox="1"/>
          <p:nvPr/>
        </p:nvSpPr>
        <p:spPr>
          <a:xfrm>
            <a:off x="548640" y="56509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filtra el archivo completo de BaTiS (millones de filas) a los reportantes </a:t>
            </a:r>
            <a:r>
              <a:rPr lang="en-US" sz="12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BR, CL, UY</a:t>
            </a:r>
            <a:r>
              <a:rPr lang="en-US" sz="12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socio </a:t>
            </a:r>
            <a:r>
              <a:rPr lang="en-US" sz="12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"WL" (mundo)</a:t>
            </a:r>
            <a:r>
              <a:rPr lang="en-US" sz="12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flujo </a:t>
            </a:r>
            <a:r>
              <a:rPr lang="en-US" sz="12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"X" (exportación)</a:t>
            </a:r>
            <a:r>
              <a:rPr lang="en-US" sz="12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categorías de servicio </a:t>
            </a:r>
            <a:r>
              <a:rPr lang="en-US" sz="12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(total) y SA–SL (12 principales)</a:t>
            </a:r>
            <a:r>
              <a:rPr lang="en-US" sz="12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usando DuckDB para leer el CSV original de forma eficiente.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DE LAS VARIABLES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base analítica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variables conservadas por el script; ningún valor nulo en la base filtrada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698480" cy="457200"/>
          </a:xfrm>
          <a:prstGeom prst="rect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214884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3566160" y="1920240"/>
            <a:ext cx="4251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795528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usados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0698480" cy="566928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548640" y="2377440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150"/>
          </a:p>
        </p:txBody>
      </p:sp>
      <p:sp>
        <p:nvSpPr>
          <p:cNvPr id="13" name="Text 11"/>
          <p:cNvSpPr txBox="1"/>
          <p:nvPr/>
        </p:nvSpPr>
        <p:spPr>
          <a:xfrm>
            <a:off x="201168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50"/>
          </a:p>
        </p:txBody>
      </p:sp>
      <p:sp>
        <p:nvSpPr>
          <p:cNvPr id="14" name="Text 12"/>
          <p:cNvSpPr txBox="1"/>
          <p:nvPr/>
        </p:nvSpPr>
        <p:spPr>
          <a:xfrm>
            <a:off x="3429000" y="2377440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exportador (código ISO, 2 letras)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781812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BR, CL, UY</a:t>
            </a:r>
            <a:endParaRPr lang="en-US" sz="1150"/>
          </a:p>
        </p:txBody>
      </p:sp>
      <p:sp>
        <p:nvSpPr>
          <p:cNvPr id="17" name="Text 15"/>
          <p:cNvSpPr txBox="1"/>
          <p:nvPr/>
        </p:nvSpPr>
        <p:spPr>
          <a:xfrm>
            <a:off x="548640" y="2944368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150"/>
          </a:p>
        </p:txBody>
      </p:sp>
      <p:sp>
        <p:nvSpPr>
          <p:cNvPr id="18" name="Text 16"/>
          <p:cNvSpPr txBox="1"/>
          <p:nvPr/>
        </p:nvSpPr>
        <p:spPr>
          <a:xfrm>
            <a:off x="2011680" y="2944368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50"/>
          </a:p>
        </p:txBody>
      </p:sp>
      <p:sp>
        <p:nvSpPr>
          <p:cNvPr id="19" name="Text 17"/>
          <p:cNvSpPr txBox="1"/>
          <p:nvPr/>
        </p:nvSpPr>
        <p:spPr>
          <a:xfrm>
            <a:off x="3429000" y="2944368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socio comercial</a:t>
            </a:r>
            <a:endParaRPr lang="en-US" sz="1150"/>
          </a:p>
        </p:txBody>
      </p:sp>
      <p:sp>
        <p:nvSpPr>
          <p:cNvPr id="20" name="Text 18"/>
          <p:cNvSpPr txBox="1"/>
          <p:nvPr/>
        </p:nvSpPr>
        <p:spPr>
          <a:xfrm>
            <a:off x="781812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(mundo)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548640" y="3511296"/>
            <a:ext cx="10698480" cy="566928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548640" y="3511296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50"/>
          </a:p>
        </p:txBody>
      </p:sp>
      <p:sp>
        <p:nvSpPr>
          <p:cNvPr id="24" name="Text 22"/>
          <p:cNvSpPr txBox="1"/>
          <p:nvPr/>
        </p:nvSpPr>
        <p:spPr>
          <a:xfrm>
            <a:off x="2011680" y="3511296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50"/>
          </a:p>
        </p:txBody>
      </p:sp>
      <p:sp>
        <p:nvSpPr>
          <p:cNvPr id="25" name="Text 23"/>
          <p:cNvSpPr txBox="1"/>
          <p:nvPr/>
        </p:nvSpPr>
        <p:spPr>
          <a:xfrm>
            <a:off x="3429000" y="3511296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del flujo comercial</a:t>
            </a:r>
            <a:endParaRPr lang="en-US" sz="1150"/>
          </a:p>
        </p:txBody>
      </p:sp>
      <p:sp>
        <p:nvSpPr>
          <p:cNvPr id="26" name="Text 24"/>
          <p:cNvSpPr txBox="1"/>
          <p:nvPr/>
        </p:nvSpPr>
        <p:spPr>
          <a:xfrm>
            <a:off x="7818120" y="3511296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(exportación)</a:t>
            </a:r>
            <a:endParaRPr lang="en-US" sz="1150"/>
          </a:p>
        </p:txBody>
      </p:sp>
      <p:sp>
        <p:nvSpPr>
          <p:cNvPr id="28" name="Text 26"/>
          <p:cNvSpPr txBox="1"/>
          <p:nvPr/>
        </p:nvSpPr>
        <p:spPr>
          <a:xfrm>
            <a:off x="548640" y="4078224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Item_code</a:t>
            </a:r>
            <a:endParaRPr lang="en-US" sz="1150"/>
          </a:p>
        </p:txBody>
      </p:sp>
      <p:sp>
        <p:nvSpPr>
          <p:cNvPr id="29" name="Text 27"/>
          <p:cNvSpPr txBox="1"/>
          <p:nvPr/>
        </p:nvSpPr>
        <p:spPr>
          <a:xfrm>
            <a:off x="2011680" y="4078224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50"/>
          </a:p>
        </p:txBody>
      </p:sp>
      <p:sp>
        <p:nvSpPr>
          <p:cNvPr id="30" name="Text 28"/>
          <p:cNvSpPr txBox="1"/>
          <p:nvPr/>
        </p:nvSpPr>
        <p:spPr>
          <a:xfrm>
            <a:off x="3429000" y="4078224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servicio (EBOPS 2010)</a:t>
            </a:r>
            <a:endParaRPr lang="en-US" sz="1150"/>
          </a:p>
        </p:txBody>
      </p:sp>
      <p:sp>
        <p:nvSpPr>
          <p:cNvPr id="31" name="Text 29"/>
          <p:cNvSpPr txBox="1"/>
          <p:nvPr/>
        </p:nvSpPr>
        <p:spPr>
          <a:xfrm>
            <a:off x="7818120" y="4078224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SA–SL (13 cat.)</a:t>
            </a:r>
            <a:endParaRPr lang="en-US" sz="1150"/>
          </a:p>
        </p:txBody>
      </p:sp>
      <p:sp>
        <p:nvSpPr>
          <p:cNvPr id="33" name="Shape 31"/>
          <p:cNvSpPr/>
          <p:nvPr/>
        </p:nvSpPr>
        <p:spPr>
          <a:xfrm>
            <a:off x="548640" y="4645152"/>
            <a:ext cx="10698480" cy="566928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548640" y="4645152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/>
          </a:p>
        </p:txBody>
      </p:sp>
      <p:sp>
        <p:nvSpPr>
          <p:cNvPr id="35" name="Text 33"/>
          <p:cNvSpPr txBox="1"/>
          <p:nvPr/>
        </p:nvSpPr>
        <p:spPr>
          <a:xfrm>
            <a:off x="2011680" y="4645152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discreta</a:t>
            </a:r>
            <a:endParaRPr lang="en-US" sz="1150"/>
          </a:p>
        </p:txBody>
      </p:sp>
      <p:sp>
        <p:nvSpPr>
          <p:cNvPr id="36" name="Text 34"/>
          <p:cNvSpPr txBox="1"/>
          <p:nvPr/>
        </p:nvSpPr>
        <p:spPr>
          <a:xfrm>
            <a:off x="3429000" y="4645152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calendario de la observación</a:t>
            </a:r>
            <a:endParaRPr lang="en-US" sz="1150"/>
          </a:p>
        </p:txBody>
      </p:sp>
      <p:sp>
        <p:nvSpPr>
          <p:cNvPr id="37" name="Text 35"/>
          <p:cNvSpPr txBox="1"/>
          <p:nvPr/>
        </p:nvSpPr>
        <p:spPr>
          <a:xfrm>
            <a:off x="7818120" y="4645152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2024</a:t>
            </a:r>
            <a:endParaRPr lang="en-US" sz="1150"/>
          </a:p>
        </p:txBody>
      </p:sp>
      <p:sp>
        <p:nvSpPr>
          <p:cNvPr id="39" name="Text 37"/>
          <p:cNvSpPr txBox="1"/>
          <p:nvPr/>
        </p:nvSpPr>
        <p:spPr>
          <a:xfrm>
            <a:off x="548640" y="5212080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Balanced_value</a:t>
            </a:r>
            <a:endParaRPr lang="en-US" sz="1150"/>
          </a:p>
        </p:txBody>
      </p:sp>
      <p:sp>
        <p:nvSpPr>
          <p:cNvPr id="40" name="Text 38"/>
          <p:cNvSpPr txBox="1"/>
          <p:nvPr/>
        </p:nvSpPr>
        <p:spPr>
          <a:xfrm>
            <a:off x="2011680" y="5212080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continua</a:t>
            </a:r>
            <a:endParaRPr lang="en-US" sz="1150"/>
          </a:p>
        </p:txBody>
      </p:sp>
      <p:sp>
        <p:nvSpPr>
          <p:cNvPr id="41" name="Text 39"/>
          <p:cNvSpPr txBox="1"/>
          <p:nvPr/>
        </p:nvSpPr>
        <p:spPr>
          <a:xfrm>
            <a:off x="3429000" y="5212080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exportado, ya reconciliado (millones USD)</a:t>
            </a:r>
            <a:endParaRPr lang="en-US" sz="1150"/>
          </a:p>
        </p:txBody>
      </p:sp>
      <p:sp>
        <p:nvSpPr>
          <p:cNvPr id="42" name="Text 40"/>
          <p:cNvSpPr txBox="1"/>
          <p:nvPr/>
        </p:nvSpPr>
        <p:spPr>
          <a:xfrm>
            <a:off x="7818120" y="521208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en adelante</a:t>
            </a:r>
            <a:endParaRPr lang="en-US" sz="1150"/>
          </a:p>
        </p:txBody>
      </p:sp>
      <p:sp>
        <p:nvSpPr>
          <p:cNvPr id="44" name="Text 42"/>
          <p:cNvSpPr txBox="1"/>
          <p:nvPr/>
        </p:nvSpPr>
        <p:spPr>
          <a:xfrm>
            <a:off x="548640" y="596188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"S" no se suma a las categorías SA–SL: se usa como denominador para calcular participaciones sectoriales.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EVOLUCIÓN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 las exportaciones totales de servicios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Argentina, Brasil, Chile y Uruguay · 2005–2024 (millones de USD corrientes)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11064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ESTADÍSTICAS DESCRIPTIVAS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y dispersión de las exportaciones, 2005–2024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438912"/>
          </a:xfrm>
          <a:prstGeom prst="rect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050"/>
          </a:p>
        </p:txBody>
      </p:sp>
      <p:sp>
        <p:nvSpPr>
          <p:cNvPr id="6" name="Text 4"/>
          <p:cNvSpPr txBox="1"/>
          <p:nvPr/>
        </p:nvSpPr>
        <p:spPr>
          <a:xfrm>
            <a:off x="2286000" y="1965960"/>
            <a:ext cx="548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>
          <a:xfrm>
            <a:off x="2834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361188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>
          <a:xfrm>
            <a:off x="4389120" y="1965960"/>
            <a:ext cx="685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5074920" y="1965960"/>
            <a:ext cx="6858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5212080" cy="566928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28016" cy="16459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713232" y="2404872"/>
            <a:ext cx="1572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150"/>
          </a:p>
        </p:txBody>
      </p:sp>
      <p:sp>
        <p:nvSpPr>
          <p:cNvPr id="14" name="Text 12"/>
          <p:cNvSpPr txBox="1"/>
          <p:nvPr/>
        </p:nvSpPr>
        <p:spPr>
          <a:xfrm>
            <a:off x="2286000" y="2404872"/>
            <a:ext cx="548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2834640" y="2404872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11.179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3611880" y="2404872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11.716</a:t>
            </a:r>
            <a:endParaRPr lang="en-US" sz="1150"/>
          </a:p>
        </p:txBody>
      </p:sp>
      <p:sp>
        <p:nvSpPr>
          <p:cNvPr id="17" name="Text 15"/>
          <p:cNvSpPr txBox="1"/>
          <p:nvPr/>
        </p:nvSpPr>
        <p:spPr>
          <a:xfrm>
            <a:off x="4389120" y="2404872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5.870</a:t>
            </a:r>
            <a:endParaRPr lang="en-US" sz="1150"/>
          </a:p>
        </p:txBody>
      </p:sp>
      <p:sp>
        <p:nvSpPr>
          <p:cNvPr id="18" name="Text 16"/>
          <p:cNvSpPr txBox="1"/>
          <p:nvPr/>
        </p:nvSpPr>
        <p:spPr>
          <a:xfrm>
            <a:off x="5074920" y="2404872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15.314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48640" y="3172968"/>
            <a:ext cx="128016" cy="164592"/>
          </a:xfrm>
          <a:prstGeom prst="rect">
            <a:avLst/>
          </a:prstGeom>
          <a:solidFill>
            <a:srgbClr val="2F6F4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13232" y="2971800"/>
            <a:ext cx="1572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150"/>
          </a:p>
        </p:txBody>
      </p:sp>
      <p:sp>
        <p:nvSpPr>
          <p:cNvPr id="21" name="Text 19"/>
          <p:cNvSpPr txBox="1"/>
          <p:nvPr/>
        </p:nvSpPr>
        <p:spPr>
          <a:xfrm>
            <a:off x="2286000" y="2971800"/>
            <a:ext cx="548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/>
          </a:p>
        </p:txBody>
      </p:sp>
      <p:sp>
        <p:nvSpPr>
          <p:cNvPr id="22" name="Text 20"/>
          <p:cNvSpPr txBox="1"/>
          <p:nvPr/>
        </p:nvSpPr>
        <p:spPr>
          <a:xfrm>
            <a:off x="2834640" y="2971800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32.090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>
          <a:xfrm>
            <a:off x="3611880" y="2971800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34.579</a:t>
            </a:r>
            <a:endParaRPr lang="en-US" sz="1150"/>
          </a:p>
        </p:txBody>
      </p:sp>
      <p:sp>
        <p:nvSpPr>
          <p:cNvPr id="24" name="Text 22"/>
          <p:cNvSpPr txBox="1"/>
          <p:nvPr/>
        </p:nvSpPr>
        <p:spPr>
          <a:xfrm>
            <a:off x="4389120" y="29718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14.429</a:t>
            </a:r>
            <a:endParaRPr lang="en-US" sz="1150"/>
          </a:p>
        </p:txBody>
      </p:sp>
      <p:sp>
        <p:nvSpPr>
          <p:cNvPr id="25" name="Text 23"/>
          <p:cNvSpPr txBox="1"/>
          <p:nvPr/>
        </p:nvSpPr>
        <p:spPr>
          <a:xfrm>
            <a:off x="5074920" y="2971800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45.798</a:t>
            </a:r>
            <a:endParaRPr lang="en-US" sz="1150"/>
          </a:p>
        </p:txBody>
      </p:sp>
      <p:sp>
        <p:nvSpPr>
          <p:cNvPr id="26" name="Shape 24"/>
          <p:cNvSpPr/>
          <p:nvPr/>
        </p:nvSpPr>
        <p:spPr>
          <a:xfrm>
            <a:off x="548640" y="3538728"/>
            <a:ext cx="5212080" cy="566928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548640" y="3739896"/>
            <a:ext cx="128016" cy="164592"/>
          </a:xfrm>
          <a:prstGeom prst="rect">
            <a:avLst/>
          </a:prstGeom>
          <a:solidFill>
            <a:srgbClr val="8C3B3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713232" y="3538728"/>
            <a:ext cx="1572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150"/>
          </a:p>
        </p:txBody>
      </p:sp>
      <p:sp>
        <p:nvSpPr>
          <p:cNvPr id="29" name="Text 27"/>
          <p:cNvSpPr txBox="1"/>
          <p:nvPr/>
        </p:nvSpPr>
        <p:spPr>
          <a:xfrm>
            <a:off x="2286000" y="3538728"/>
            <a:ext cx="548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/>
          </a:p>
        </p:txBody>
      </p:sp>
      <p:sp>
        <p:nvSpPr>
          <p:cNvPr id="30" name="Text 28"/>
          <p:cNvSpPr txBox="1"/>
          <p:nvPr/>
        </p:nvSpPr>
        <p:spPr>
          <a:xfrm>
            <a:off x="2834640" y="3538728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11.091</a:t>
            </a:r>
            <a:endParaRPr lang="en-US" sz="1150"/>
          </a:p>
        </p:txBody>
      </p:sp>
      <p:sp>
        <p:nvSpPr>
          <p:cNvPr id="31" name="Text 29"/>
          <p:cNvSpPr txBox="1"/>
          <p:nvPr/>
        </p:nvSpPr>
        <p:spPr>
          <a:xfrm>
            <a:off x="3611880" y="3538728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11.464</a:t>
            </a:r>
            <a:endParaRPr lang="en-US" sz="1150"/>
          </a:p>
        </p:txBody>
      </p:sp>
      <p:sp>
        <p:nvSpPr>
          <p:cNvPr id="32" name="Text 30"/>
          <p:cNvSpPr txBox="1"/>
          <p:nvPr/>
        </p:nvSpPr>
        <p:spPr>
          <a:xfrm>
            <a:off x="4389120" y="3538728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6.280</a:t>
            </a:r>
            <a:endParaRPr lang="en-US" sz="1150"/>
          </a:p>
        </p:txBody>
      </p:sp>
      <p:sp>
        <p:nvSpPr>
          <p:cNvPr id="33" name="Text 31"/>
          <p:cNvSpPr txBox="1"/>
          <p:nvPr/>
        </p:nvSpPr>
        <p:spPr>
          <a:xfrm>
            <a:off x="5074920" y="3538728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17.587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128016" cy="164592"/>
          </a:xfrm>
          <a:prstGeom prst="rect">
            <a:avLst/>
          </a:prstGeom>
          <a:solidFill>
            <a:srgbClr val="3A5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 txBox="1"/>
          <p:nvPr/>
        </p:nvSpPr>
        <p:spPr>
          <a:xfrm>
            <a:off x="713232" y="4105656"/>
            <a:ext cx="157276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</a:t>
            </a:r>
            <a:endParaRPr lang="en-US" sz="1150"/>
          </a:p>
        </p:txBody>
      </p:sp>
      <p:sp>
        <p:nvSpPr>
          <p:cNvPr id="36" name="Text 34"/>
          <p:cNvSpPr txBox="1"/>
          <p:nvPr/>
        </p:nvSpPr>
        <p:spPr>
          <a:xfrm>
            <a:off x="2286000" y="4105656"/>
            <a:ext cx="548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/>
          </a:p>
        </p:txBody>
      </p:sp>
      <p:sp>
        <p:nvSpPr>
          <p:cNvPr id="37" name="Text 35"/>
          <p:cNvSpPr txBox="1"/>
          <p:nvPr/>
        </p:nvSpPr>
        <p:spPr>
          <a:xfrm>
            <a:off x="2834640" y="4105656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4.228</a:t>
            </a:r>
            <a:endParaRPr lang="en-US" sz="1150"/>
          </a:p>
        </p:txBody>
      </p:sp>
      <p:sp>
        <p:nvSpPr>
          <p:cNvPr id="38" name="Text 36"/>
          <p:cNvSpPr txBox="1"/>
          <p:nvPr/>
        </p:nvSpPr>
        <p:spPr>
          <a:xfrm>
            <a:off x="3611880" y="4105656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4.629</a:t>
            </a:r>
            <a:endParaRPr lang="en-US" sz="1150"/>
          </a:p>
        </p:txBody>
      </p:sp>
      <p:sp>
        <p:nvSpPr>
          <p:cNvPr id="39" name="Text 37"/>
          <p:cNvSpPr txBox="1"/>
          <p:nvPr/>
        </p:nvSpPr>
        <p:spPr>
          <a:xfrm>
            <a:off x="4389120" y="4105656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1.722</a:t>
            </a:r>
            <a:endParaRPr lang="en-US" sz="1150"/>
          </a:p>
        </p:txBody>
      </p:sp>
      <p:sp>
        <p:nvSpPr>
          <p:cNvPr id="40" name="Text 38"/>
          <p:cNvSpPr txBox="1"/>
          <p:nvPr/>
        </p:nvSpPr>
        <p:spPr>
          <a:xfrm>
            <a:off x="5074920" y="4105656"/>
            <a:ext cx="685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6.557</a:t>
            </a:r>
            <a:endParaRPr lang="en-US" sz="1150"/>
          </a:p>
        </p:txBody>
      </p:sp>
      <p:sp>
        <p:nvSpPr>
          <p:cNvPr id="41" name="Text 39"/>
          <p:cNvSpPr txBox="1"/>
          <p:nvPr/>
        </p:nvSpPr>
        <p:spPr>
          <a:xfrm>
            <a:off x="548640" y="480974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en millones de USD corrientes. Estadísticas calculadas sobre las 20 observaciones anuales (Item_code = "S") de cada país.</a:t>
            </a:r>
            <a:endParaRPr lang="en-US" sz="1050"/>
          </a:p>
        </p:txBody>
      </p:sp>
      <p:pic>
        <p:nvPicPr>
          <p:cNvPr id="42" name="Image 0" descr="/home/claude/tp_batis/boxplot_expor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20"/>
            <a:ext cx="5623560" cy="324612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5989320" y="5193792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las exportaciones anuales por país (2005–2024). Brasil combina el mayor nivel y la mayor dispersión.</a:t>
            </a:r>
            <a:endParaRPr lang="en-US" sz="1050"/>
          </a:p>
        </p:txBody>
      </p:sp>
      <p:sp>
        <p:nvSpPr>
          <p:cNvPr id="44" name="Text 4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45" name="Text 4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CRECIMIENTO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acumulado de las exportaciones, 2005–2024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 entre el primer y el último año de la serie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73152" cy="914400"/>
          </a:xfrm>
          <a:prstGeom prst="rect">
            <a:avLst/>
          </a:prstGeom>
          <a:solidFill>
            <a:srgbClr val="3A5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 txBox="1"/>
          <p:nvPr/>
        </p:nvSpPr>
        <p:spPr>
          <a:xfrm>
            <a:off x="77266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 </a:t>
            </a:r>
            <a:r>
              <a:rPr lang="en-US" sz="1300" b="1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+281%</a:t>
            </a:r>
            <a:endParaRPr lang="en-US" sz="1300"/>
          </a:p>
        </p:txBody>
      </p:sp>
      <p:sp>
        <p:nvSpPr>
          <p:cNvPr id="8" name="Text 5"/>
          <p:cNvSpPr txBox="1"/>
          <p:nvPr/>
        </p:nvSpPr>
        <p:spPr>
          <a:xfrm>
            <a:off x="7726680" y="22585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1.722M → 6.557M — el mayor crecimiento relativo del grupo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7543800" y="3017520"/>
            <a:ext cx="73152" cy="914400"/>
          </a:xfrm>
          <a:prstGeom prst="rect">
            <a:avLst/>
          </a:prstGeom>
          <a:solidFill>
            <a:srgbClr val="2F6F4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 txBox="1"/>
          <p:nvPr/>
        </p:nvSpPr>
        <p:spPr>
          <a:xfrm>
            <a:off x="77266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 </a:t>
            </a:r>
            <a:r>
              <a:rPr lang="en-US" sz="1300" b="1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+217%</a:t>
            </a:r>
            <a:endParaRPr lang="en-US" sz="1300"/>
          </a:p>
        </p:txBody>
      </p:sp>
      <p:sp>
        <p:nvSpPr>
          <p:cNvPr id="11" name="Text 8"/>
          <p:cNvSpPr txBox="1"/>
          <p:nvPr/>
        </p:nvSpPr>
        <p:spPr>
          <a:xfrm>
            <a:off x="7726680" y="33101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14.429M → 45.798M — mayor crecimiento en valores absolutos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7543800" y="4069080"/>
            <a:ext cx="73152" cy="914400"/>
          </a:xfrm>
          <a:prstGeom prst="rect">
            <a:avLst/>
          </a:prstGeom>
          <a:solidFill>
            <a:srgbClr val="8C3B3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 txBox="1"/>
          <p:nvPr/>
        </p:nvSpPr>
        <p:spPr>
          <a:xfrm>
            <a:off x="7726680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 </a:t>
            </a:r>
            <a:r>
              <a:rPr lang="en-US" sz="1300" b="1">
                <a:solidFill>
                  <a:srgbClr val="8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+180%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726680" y="43616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6.280M → 17.587M — impulsado por el salto de 2022–2024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7543800" y="512064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 txBox="1"/>
          <p:nvPr/>
        </p:nvSpPr>
        <p:spPr>
          <a:xfrm>
            <a:off x="7726680" y="5120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 </a:t>
            </a: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+161%</a:t>
            </a:r>
            <a:endParaRPr lang="en-US" sz="1300"/>
          </a:p>
        </p:txBody>
      </p:sp>
      <p:sp>
        <p:nvSpPr>
          <p:cNvPr id="17" name="Text 14"/>
          <p:cNvSpPr txBox="1"/>
          <p:nvPr/>
        </p:nvSpPr>
        <p:spPr>
          <a:xfrm>
            <a:off x="7726680" y="54132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5.870M → 15.314M — el menor crecimiento relativo del grupo</a:t>
            </a:r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COMPOSICIÓN SECTORIAL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de las exportaciones de servicios en 2024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las principales categorías sobre el total exportado por cada país (%)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11064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CAMBIO DE COMPOSICIÓN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en la composición sectorial de Argentina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cada categoría sobre el total exportado, 2005 vs. 2024 (%)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11064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— IMPACTO DE LA PANDEMIA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Caída en 2020 y recuperación posterior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 de las exportaciones totales de servicios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PRIMEROS HALLAZGOS</a:t>
            </a:r>
            <a:endParaRPr lang="en-US" sz="125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hallazgos de la exploración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77240" y="2075688"/>
            <a:ext cx="384048" cy="384048"/>
          </a:xfrm>
          <a:prstGeom prst="ellipse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domina en escala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media de USD 32.090M, exporta casi tres veces más servicios que Argentina o Chile durante todo el período.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178808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407408" y="2075688"/>
            <a:ext cx="384048" cy="384048"/>
          </a:xfrm>
          <a:prstGeom prst="ellipse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4407408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407408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 crece más rápido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4407408" y="30449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exportaciones aumentaron +281% entre 2005 y 2024, muy por encima del +161% de Argentina.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7808976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037576" y="2075688"/>
            <a:ext cx="384048" cy="384048"/>
          </a:xfrm>
          <a:prstGeom prst="ellipse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803757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8037576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pandemia golpeó de forma despareja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8037576" y="30449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sufrió la mayor caída en 2020 (-34,3%) pero también la recuperación más fuerte hacia 2024 (+114,9%).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777240" y="4178808"/>
            <a:ext cx="384048" cy="384048"/>
          </a:xfrm>
          <a:prstGeom prst="ellipse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7772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se diversificó hacia servicios modernos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777240" y="5148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y Otros servicios empresariales pasaron de ~24% (2005) a ~37% (2024) del total exportado.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178808" y="39776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4F6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407408" y="4178808"/>
            <a:ext cx="384048" cy="384048"/>
          </a:xfrm>
          <a:prstGeom prst="ellipse">
            <a:avLst/>
          </a:prstGeom>
          <a:solidFill>
            <a:srgbClr val="1630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44074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7" name="Text 25"/>
          <p:cNvSpPr txBox="1"/>
          <p:nvPr/>
        </p:nvSpPr>
        <p:spPr>
          <a:xfrm>
            <a:off x="4407408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perdió peso relativo en Argentina</a:t>
            </a:r>
            <a:endParaRPr lang="en-US" sz="1300"/>
          </a:p>
        </p:txBody>
      </p:sp>
      <p:sp>
        <p:nvSpPr>
          <p:cNvPr id="28" name="Text 26"/>
          <p:cNvSpPr txBox="1"/>
          <p:nvPr/>
        </p:nvSpPr>
        <p:spPr>
          <a:xfrm>
            <a:off x="4407408" y="51480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3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Cayó de 42,8% (2005) a 33,6% (2024) del total, pese a seguir siendo la principal categoría.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 · OCDE-OMC · Ciencia de Datos — Primera entrega EDA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F46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1F46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LAS PRÓXIMAS ETAPAS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465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1463040" y="1188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factores explican el fuerte avance de Argentina y Uruguay en servicios de informática y consultoría entre 2005 y 2024?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465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 la comparación entre países si se corrigen los valores por inflación o se los relaciona con el tamaño de cada economía (PBI)?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515600" cy="18288"/>
          </a:xfrm>
          <a:prstGeom prst="rect">
            <a:avLst/>
          </a:prstGeom>
          <a:solidFill>
            <a:srgbClr val="1F46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 kern="0" spc="150" err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Próxima</a:t>
            </a:r>
            <a:r>
              <a:rPr lang="en-US" sz="2600" b="1" kern="0" spc="15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kern="0" spc="150" err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entrega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456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el análisis (relaciones entre variables, comparaciones más finas por categoría y período) y mejorar progresivamente la presentación de los resultados.</a:t>
            </a:r>
            <a:endParaRPr lang="en-US" sz="135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OCDE/OMC (2025), "Balanced Trade in Services (BaTiS) dataset", edición BPM6. stats.wto.org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2026-09-21T18:14:19Z</dcterms:created>
  <dcterms:modified xsi:type="dcterms:W3CDTF">2026-09-21T20:51:03Z</dcterms:modified>
</cp:coreProperties>
</file>